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Manrope"/>
      <p:regular r:id="rId21"/>
      <p:bold r:id="rId22"/>
    </p:embeddedFont>
    <p:embeddedFont>
      <p:font typeface="Manrope ExtraBold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+XIocikiiqIdrHU1p8gkqeqKy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FAC32F-7E1A-4D2E-A807-6B5EE0C3FE93}">
  <a:tblStyle styleId="{90FAC32F-7E1A-4D2E-A807-6B5EE0C3FE9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F0F3"/>
          </a:solidFill>
        </a:fill>
      </a:tcStyle>
    </a:wholeTbl>
    <a:band1H>
      <a:tcTxStyle b="off" i="off"/>
      <a:tcStyle>
        <a:fill>
          <a:solidFill>
            <a:srgbClr val="D0DFE6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FE6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36A09B7E-2FAD-43E5-8E91-5C8C0D273A2B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Manrope-bold.fntdata"/><Relationship Id="rId10" Type="http://schemas.openxmlformats.org/officeDocument/2006/relationships/slide" Target="slides/slide5.xml"/><Relationship Id="rId21" Type="http://schemas.openxmlformats.org/officeDocument/2006/relationships/font" Target="fonts/Manrope-regular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ManropeExtra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84812c6fd_5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g3084812c6fd_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71"/>
            <a:ext cx="12192000" cy="684505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/>
          <p:nvPr>
            <p:ph type="ctrTitle"/>
          </p:nvPr>
        </p:nvSpPr>
        <p:spPr>
          <a:xfrm>
            <a:off x="486189" y="431090"/>
            <a:ext cx="5609811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subTitle"/>
          </p:nvPr>
        </p:nvSpPr>
        <p:spPr>
          <a:xfrm>
            <a:off x="486189" y="3119119"/>
            <a:ext cx="7073735" cy="1447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A white text on a black background&#10;&#10;Description automatically generated" id="20" name="Google Shape;2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189" y="5766911"/>
            <a:ext cx="1816100" cy="49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838200" y="1825625"/>
            <a:ext cx="10515600" cy="420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1" type="ftr"/>
          </p:nvPr>
        </p:nvSpPr>
        <p:spPr>
          <a:xfrm>
            <a:off x="4677475" y="6254910"/>
            <a:ext cx="693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2" type="sldNum"/>
          </p:nvPr>
        </p:nvSpPr>
        <p:spPr>
          <a:xfrm>
            <a:off x="11715946" y="625491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16"/>
          <p:cNvGrpSpPr/>
          <p:nvPr/>
        </p:nvGrpSpPr>
        <p:grpSpPr>
          <a:xfrm>
            <a:off x="0" y="11572"/>
            <a:ext cx="12190035" cy="6845057"/>
            <a:chOff x="0" y="11572"/>
            <a:chExt cx="12190035" cy="6845057"/>
          </a:xfrm>
        </p:grpSpPr>
        <p:grpSp>
          <p:nvGrpSpPr>
            <p:cNvPr id="28" name="Google Shape;28;p16"/>
            <p:cNvGrpSpPr/>
            <p:nvPr/>
          </p:nvGrpSpPr>
          <p:grpSpPr>
            <a:xfrm>
              <a:off x="8274768" y="11572"/>
              <a:ext cx="3915267" cy="6845057"/>
              <a:chOff x="8274768" y="11572"/>
              <a:chExt cx="3915267" cy="6845057"/>
            </a:xfrm>
          </p:grpSpPr>
          <p:grpSp>
            <p:nvGrpSpPr>
              <p:cNvPr id="29" name="Google Shape;29;p16"/>
              <p:cNvGrpSpPr/>
              <p:nvPr/>
            </p:nvGrpSpPr>
            <p:grpSpPr>
              <a:xfrm>
                <a:off x="9585206" y="11572"/>
                <a:ext cx="2604829" cy="6845057"/>
                <a:chOff x="9587171" y="0"/>
                <a:chExt cx="2604829" cy="6845057"/>
              </a:xfrm>
            </p:grpSpPr>
            <p:pic>
              <p:nvPicPr>
                <p:cNvPr id="30" name="Google Shape;30;p16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b="0" l="78635" r="0" t="0"/>
                <a:stretch/>
              </p:blipFill>
              <p:spPr>
                <a:xfrm>
                  <a:off x="9587171" y="0"/>
                  <a:ext cx="2604829" cy="68450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1" name="Google Shape;31;p16"/>
                <p:cNvSpPr txBox="1"/>
                <p:nvPr/>
              </p:nvSpPr>
              <p:spPr>
                <a:xfrm>
                  <a:off x="9668187" y="6168291"/>
                  <a:ext cx="779400" cy="60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b="0" i="0" lang="en-US" sz="1100" u="none" cap="none" strike="noStrike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Identity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b="0" i="0" lang="en-US" sz="1100" u="none" cap="none" strike="noStrike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Protects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b="0" i="0" lang="en-US" sz="1100" u="none" cap="none" strike="noStrike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growth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" name="Google Shape;32;p16"/>
                <p:cNvSpPr txBox="1"/>
                <p:nvPr/>
              </p:nvSpPr>
              <p:spPr>
                <a:xfrm>
                  <a:off x="9668187" y="1585900"/>
                  <a:ext cx="1042200" cy="60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b="0" i="0" lang="en-US" sz="1100" u="none" cap="none" strike="noStrike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Identity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b="0" i="0" lang="en-US" sz="1100" u="none" cap="none" strike="noStrike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protects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b="0" i="0" lang="en-US" sz="1100" u="none" cap="none" strike="noStrike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productivity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" name="Google Shape;33;p16"/>
                <p:cNvSpPr txBox="1"/>
                <p:nvPr/>
              </p:nvSpPr>
              <p:spPr>
                <a:xfrm>
                  <a:off x="10998224" y="3903073"/>
                  <a:ext cx="774600" cy="60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b="0" i="0" lang="en-US" sz="1100" u="none" cap="none" strike="noStrike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Identity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b="0" i="0" lang="en-US" sz="1100" u="none" cap="none" strike="noStrike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protects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b="0" i="0" lang="en-US" sz="1100" u="none" cap="none" strike="noStrike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value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4" name="Google Shape;34;p16"/>
              <p:cNvSpPr/>
              <p:nvPr/>
            </p:nvSpPr>
            <p:spPr>
              <a:xfrm>
                <a:off x="8274768" y="11572"/>
                <a:ext cx="1307592" cy="2276856"/>
              </a:xfrm>
              <a:prstGeom prst="rect">
                <a:avLst/>
              </a:prstGeom>
              <a:solidFill>
                <a:srgbClr val="8282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16"/>
              <p:cNvSpPr/>
              <p:nvPr/>
            </p:nvSpPr>
            <p:spPr>
              <a:xfrm>
                <a:off x="8274768" y="2288428"/>
                <a:ext cx="1307592" cy="2371875"/>
              </a:xfrm>
              <a:prstGeom prst="rect">
                <a:avLst/>
              </a:prstGeom>
              <a:solidFill>
                <a:srgbClr val="CAA22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16"/>
              <p:cNvSpPr/>
              <p:nvPr/>
            </p:nvSpPr>
            <p:spPr>
              <a:xfrm>
                <a:off x="8274768" y="4660304"/>
                <a:ext cx="1307592" cy="21963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" name="Google Shape;37;p16"/>
            <p:cNvSpPr/>
            <p:nvPr/>
          </p:nvSpPr>
          <p:spPr>
            <a:xfrm>
              <a:off x="0" y="11572"/>
              <a:ext cx="8274767" cy="6841541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rmatted">
  <p:cSld name="Formatted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2ec16922d48_0_196"/>
          <p:cNvSpPr txBox="1"/>
          <p:nvPr>
            <p:ph type="title"/>
          </p:nvPr>
        </p:nvSpPr>
        <p:spPr>
          <a:xfrm>
            <a:off x="334962" y="185384"/>
            <a:ext cx="115221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2ec16922d48_0_196"/>
          <p:cNvSpPr txBox="1"/>
          <p:nvPr>
            <p:ph idx="11" type="ftr"/>
          </p:nvPr>
        </p:nvSpPr>
        <p:spPr>
          <a:xfrm>
            <a:off x="8682085" y="6311472"/>
            <a:ext cx="2835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2ec16922d48_0_196"/>
          <p:cNvSpPr txBox="1"/>
          <p:nvPr>
            <p:ph idx="12" type="sldNum"/>
          </p:nvPr>
        </p:nvSpPr>
        <p:spPr>
          <a:xfrm>
            <a:off x="11715946" y="6311472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g2ec16922d48_0_196"/>
          <p:cNvSpPr txBox="1"/>
          <p:nvPr>
            <p:ph idx="1" type="body"/>
          </p:nvPr>
        </p:nvSpPr>
        <p:spPr>
          <a:xfrm>
            <a:off x="334962" y="1089024"/>
            <a:ext cx="11522100" cy="52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302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2 Columns Content">
  <p:cSld name="1_Title and 2 Columns Conte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" type="body"/>
          </p:nvPr>
        </p:nvSpPr>
        <p:spPr>
          <a:xfrm>
            <a:off x="838199" y="1825625"/>
            <a:ext cx="5111187" cy="420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1" type="ftr"/>
          </p:nvPr>
        </p:nvSpPr>
        <p:spPr>
          <a:xfrm>
            <a:off x="4677475" y="6254910"/>
            <a:ext cx="693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2" type="sldNum"/>
          </p:nvPr>
        </p:nvSpPr>
        <p:spPr>
          <a:xfrm>
            <a:off x="11715946" y="625491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3"/>
          <p:cNvSpPr txBox="1"/>
          <p:nvPr>
            <p:ph idx="2" type="body"/>
          </p:nvPr>
        </p:nvSpPr>
        <p:spPr>
          <a:xfrm>
            <a:off x="6242613" y="1825625"/>
            <a:ext cx="5111187" cy="420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Section Federal Government">
  <p:cSld name="9_Section Federal Governm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0"/>
          <p:cNvSpPr txBox="1"/>
          <p:nvPr>
            <p:ph type="title"/>
          </p:nvPr>
        </p:nvSpPr>
        <p:spPr>
          <a:xfrm>
            <a:off x="944880" y="1628579"/>
            <a:ext cx="6772717" cy="180042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944880" y="6254910"/>
            <a:ext cx="693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white text on a black background&#10;&#10;Description automatically generated" id="53" name="Google Shape;5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880" y="613459"/>
            <a:ext cx="1500729" cy="4127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0"/>
          <p:cNvSpPr txBox="1"/>
          <p:nvPr>
            <p:ph idx="1" type="body"/>
          </p:nvPr>
        </p:nvSpPr>
        <p:spPr>
          <a:xfrm>
            <a:off x="944880" y="3455988"/>
            <a:ext cx="4839745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6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F"/>
              </a:buClr>
              <a:buSzPts val="2000"/>
              <a:buNone/>
              <a:defRPr sz="2000">
                <a:solidFill>
                  <a:srgbClr val="88888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F"/>
              </a:buClr>
              <a:buSzPts val="1800"/>
              <a:buNone/>
              <a:defRPr sz="1800">
                <a:solidFill>
                  <a:srgbClr val="88888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F"/>
              </a:buClr>
              <a:buSzPts val="1600"/>
              <a:buNone/>
              <a:defRPr sz="1600">
                <a:solidFill>
                  <a:srgbClr val="88888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F"/>
              </a:buClr>
              <a:buSzPts val="1600"/>
              <a:buNone/>
              <a:defRPr sz="1600">
                <a:solidFill>
                  <a:srgbClr val="88888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F"/>
              </a:buClr>
              <a:buSzPts val="1600"/>
              <a:buNone/>
              <a:defRPr sz="1600">
                <a:solidFill>
                  <a:srgbClr val="88888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F"/>
              </a:buClr>
              <a:buSzPts val="1600"/>
              <a:buNone/>
              <a:defRPr sz="1600">
                <a:solidFill>
                  <a:srgbClr val="88888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F"/>
              </a:buClr>
              <a:buSzPts val="1600"/>
              <a:buNone/>
              <a:defRPr sz="1600">
                <a:solidFill>
                  <a:srgbClr val="88888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F"/>
              </a:buClr>
              <a:buSzPts val="1600"/>
              <a:buNone/>
              <a:defRPr sz="1600">
                <a:solidFill>
                  <a:srgbClr val="88888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57200" y="6219285"/>
            <a:ext cx="11277600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b="1" i="0" sz="3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" type="body"/>
          </p:nvPr>
        </p:nvSpPr>
        <p:spPr>
          <a:xfrm>
            <a:off x="838200" y="1825625"/>
            <a:ext cx="10515600" cy="420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677475" y="6254910"/>
            <a:ext cx="693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11715946" y="625491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white text on a black background&#10;&#10;Description automatically generated" id="15" name="Google Shape;1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0325" y="6309123"/>
            <a:ext cx="956244" cy="26296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saviynt.com/exchange/solutions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>
            <p:ph type="ctrTitle"/>
          </p:nvPr>
        </p:nvSpPr>
        <p:spPr>
          <a:xfrm>
            <a:off x="409989" y="964490"/>
            <a:ext cx="5609700" cy="18518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</a:pPr>
            <a:r>
              <a:rPr lang="en-US" sz="4000"/>
              <a:t>Saviynt Implementation </a:t>
            </a:r>
            <a:br>
              <a:rPr lang="en-US" sz="4000"/>
            </a:br>
            <a:r>
              <a:rPr lang="en-US" sz="4000"/>
              <a:t>CPAM Overview</a:t>
            </a:r>
            <a:endParaRPr/>
          </a:p>
        </p:txBody>
      </p:sp>
      <p:sp>
        <p:nvSpPr>
          <p:cNvPr id="60" name="Google Shape;60;p1"/>
          <p:cNvSpPr txBox="1"/>
          <p:nvPr>
            <p:ph idx="1" type="subTitle"/>
          </p:nvPr>
        </p:nvSpPr>
        <p:spPr>
          <a:xfrm>
            <a:off x="486200" y="4149151"/>
            <a:ext cx="70737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/>
              <a:t>OCT 2024</a:t>
            </a:r>
            <a:endParaRPr/>
          </a:p>
        </p:txBody>
      </p:sp>
      <p:sp>
        <p:nvSpPr>
          <p:cNvPr id="61" name="Google Shape;61;p1"/>
          <p:cNvSpPr txBox="1"/>
          <p:nvPr/>
        </p:nvSpPr>
        <p:spPr>
          <a:xfrm>
            <a:off x="333756" y="2997898"/>
            <a:ext cx="5524500" cy="579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Kickoff</a:t>
            </a:r>
            <a:endParaRPr b="0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084812c6fd_5_0"/>
          <p:cNvSpPr txBox="1"/>
          <p:nvPr>
            <p:ph type="title"/>
          </p:nvPr>
        </p:nvSpPr>
        <p:spPr>
          <a:xfrm>
            <a:off x="440267" y="365125"/>
            <a:ext cx="11311466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553"/>
              <a:buNone/>
            </a:pPr>
            <a:r>
              <a:rPr lang="en-US"/>
              <a:t>Agenda</a:t>
            </a:r>
            <a:r>
              <a:rPr lang="en-US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67" name="Google Shape;67;g3084812c6fd_5_0"/>
          <p:cNvSpPr txBox="1"/>
          <p:nvPr>
            <p:ph idx="11" type="ftr"/>
          </p:nvPr>
        </p:nvSpPr>
        <p:spPr>
          <a:xfrm>
            <a:off x="6776545" y="6256344"/>
            <a:ext cx="4725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2024. Saviynt Inc. All Rights Reserved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084812c6fd_5_0"/>
          <p:cNvSpPr txBox="1"/>
          <p:nvPr/>
        </p:nvSpPr>
        <p:spPr>
          <a:xfrm>
            <a:off x="571499" y="1143000"/>
            <a:ext cx="620504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∙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Introductions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∙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a 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Cloud Privileged Access Management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 is important to 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[CUSTOMER]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∙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Who is implementing this and who is impacted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∙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will be required from the 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[CUSTOMER]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∙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does the project timeline look like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084812c6fd_5_0"/>
          <p:cNvSpPr/>
          <p:nvPr/>
        </p:nvSpPr>
        <p:spPr>
          <a:xfrm>
            <a:off x="7580376" y="1033272"/>
            <a:ext cx="3675888" cy="468172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Graphics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/>
          <p:nvPr>
            <p:ph type="title"/>
          </p:nvPr>
        </p:nvSpPr>
        <p:spPr>
          <a:xfrm>
            <a:off x="440267" y="365125"/>
            <a:ext cx="11311466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553"/>
              <a:buNone/>
            </a:pPr>
            <a:r>
              <a:rPr lang="en-US"/>
              <a:t>Background</a:t>
            </a:r>
            <a:r>
              <a:rPr lang="en-US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75" name="Google Shape;75;p2"/>
          <p:cNvSpPr txBox="1"/>
          <p:nvPr>
            <p:ph idx="11" type="ftr"/>
          </p:nvPr>
        </p:nvSpPr>
        <p:spPr>
          <a:xfrm>
            <a:off x="6776545" y="6256344"/>
            <a:ext cx="4725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2024. Saviynt Inc. All Rights Reserved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440266" y="1042420"/>
            <a:ext cx="10815997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Q4 2022, 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[CUSTOMER]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engaged 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[PARTNER]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identify a best-fit provider of an identity and privileged access management solution.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Saviynt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emerged in Q1 2023 as the top choice, and 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[CUSTOMER]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has engaged 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[PARTNER]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once again. This time, to implement Saviynt as the provider for 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[CUSTOMER]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’s: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Identity Governance Administration (IGA)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Privileged Access Management (PAM)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&lt; Add all relevant information useful for executive Team&gt;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type="title"/>
          </p:nvPr>
        </p:nvSpPr>
        <p:spPr>
          <a:xfrm>
            <a:off x="440267" y="365125"/>
            <a:ext cx="11311466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553"/>
              <a:buNone/>
            </a:pPr>
            <a:r>
              <a:rPr lang="en-US"/>
              <a:t>Why Saviynt Privileged Access Management?</a:t>
            </a:r>
            <a:r>
              <a:rPr lang="en-US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82" name="Google Shape;82;p3"/>
          <p:cNvSpPr txBox="1"/>
          <p:nvPr>
            <p:ph idx="11" type="ftr"/>
          </p:nvPr>
        </p:nvSpPr>
        <p:spPr>
          <a:xfrm>
            <a:off x="6776545" y="6256344"/>
            <a:ext cx="4725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2024. Saviynt Inc. All Rights Reserved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592601" y="1147762"/>
            <a:ext cx="625417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Privileged Access Management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helps to:</a:t>
            </a:r>
            <a:endParaRPr/>
          </a:p>
          <a:p>
            <a:pPr indent="-3429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Protect against the misuse of privileged access or assets</a:t>
            </a:r>
            <a:endParaRPr/>
          </a:p>
          <a:p>
            <a:pPr indent="-3429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Monitor the activities of privileged users</a:t>
            </a:r>
            <a:endParaRPr/>
          </a:p>
          <a:p>
            <a:pPr indent="-3429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Restrict privileged users’ activities to only those required for their jobs</a:t>
            </a:r>
            <a:endParaRPr/>
          </a:p>
          <a:p>
            <a:pPr indent="-3429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Provide temporary access to systems or a tool that allows for instant revocation of permissions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Saviynt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does the following:</a:t>
            </a:r>
            <a:endParaRPr/>
          </a:p>
          <a:p>
            <a:pPr indent="-3429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Streamline authorization &amp; monitoring of privileged users</a:t>
            </a:r>
            <a:endParaRPr/>
          </a:p>
          <a:p>
            <a:pPr indent="-3429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Secures privileged access consistently and uniformly across On-Prem and Cloud based applications</a:t>
            </a:r>
            <a:endParaRPr/>
          </a:p>
          <a:p>
            <a:pPr indent="-3429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Just-in-time Access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3044933" y="5586162"/>
            <a:ext cx="60944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n-US" sz="1400" u="sng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&lt; Add all relevant use cases for executive Team&gt;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/>
          <p:nvPr>
            <p:ph type="title"/>
          </p:nvPr>
        </p:nvSpPr>
        <p:spPr>
          <a:xfrm>
            <a:off x="440267" y="365125"/>
            <a:ext cx="11311466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553"/>
              <a:buNone/>
            </a:pPr>
            <a:r>
              <a:rPr lang="en-US"/>
              <a:t>What is included in Privileged Access ?</a:t>
            </a:r>
            <a:endParaRPr/>
          </a:p>
        </p:txBody>
      </p:sp>
      <p:sp>
        <p:nvSpPr>
          <p:cNvPr id="90" name="Google Shape;90;p4"/>
          <p:cNvSpPr txBox="1"/>
          <p:nvPr>
            <p:ph idx="11" type="ftr"/>
          </p:nvPr>
        </p:nvSpPr>
        <p:spPr>
          <a:xfrm>
            <a:off x="6776545" y="6256344"/>
            <a:ext cx="4725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2024. Saviynt Inc. All Rights Reserved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571500" y="1147761"/>
            <a:ext cx="5897880" cy="5103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13716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Secondary/Admin User Accounts:</a:t>
            </a:r>
            <a:endParaRPr/>
          </a:p>
          <a:p>
            <a:pPr indent="0" lvl="1" marL="13716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Application &amp; Service Accounts:</a:t>
            </a:r>
            <a:endParaRPr/>
          </a:p>
          <a:p>
            <a:pPr indent="0" lvl="1" marL="13716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Endpoints / Cloud Assets: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1" marL="13716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Compliance / Auditing: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1" marL="13716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Break Glass Accounts</a:t>
            </a:r>
            <a:endParaRPr/>
          </a:p>
          <a:p>
            <a:pPr indent="0" lvl="1" marL="13716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Admin accounts for Cloud Services</a:t>
            </a:r>
            <a:endParaRPr/>
          </a:p>
          <a:p>
            <a:pPr indent="0" lvl="1" marL="13716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DB</a:t>
            </a:r>
            <a:endParaRPr/>
          </a:p>
          <a:p>
            <a:pPr indent="0" lvl="1" marL="13716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highlight>
                <a:srgbClr val="FFFF00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1" marL="13716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3044932" y="5586162"/>
            <a:ext cx="76901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n-US" sz="1400" u="sng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&lt; Add some example accounts on each categories for executive Team&gt;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/>
          <p:nvPr>
            <p:ph type="title"/>
          </p:nvPr>
        </p:nvSpPr>
        <p:spPr>
          <a:xfrm>
            <a:off x="440267" y="365125"/>
            <a:ext cx="11311466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5553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Implementing Team</a:t>
            </a:r>
            <a:r>
              <a:rPr lang="en-US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98" name="Google Shape;98;p5"/>
          <p:cNvSpPr txBox="1"/>
          <p:nvPr>
            <p:ph idx="11" type="ftr"/>
          </p:nvPr>
        </p:nvSpPr>
        <p:spPr>
          <a:xfrm>
            <a:off x="6776545" y="6256344"/>
            <a:ext cx="4725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2024. Saviynt Inc. All Rights Reserved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9" name="Google Shape;99;p5"/>
          <p:cNvGraphicFramePr/>
          <p:nvPr/>
        </p:nvGraphicFramePr>
        <p:xfrm>
          <a:off x="571499" y="11477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{90FAC32F-7E1A-4D2E-A807-6B5EE0C3FE93}</a:tableStyleId>
              </a:tblPr>
              <a:tblGrid>
                <a:gridCol w="3601100"/>
                <a:gridCol w="3601100"/>
                <a:gridCol w="3601100"/>
              </a:tblGrid>
              <a:tr h="117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[PARTNER]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[SAVIYNT]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[CUSTOMER]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39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i="1" sz="1050" u="none" cap="none" strike="noStrike">
                        <a:solidFill>
                          <a:srgbClr val="00516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0" name="Google Shape;100;p5"/>
          <p:cNvSpPr txBox="1"/>
          <p:nvPr/>
        </p:nvSpPr>
        <p:spPr>
          <a:xfrm>
            <a:off x="3044932" y="5586162"/>
            <a:ext cx="76901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n-US" sz="1400" u="sng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&lt; Add key members – role, contact details&gt;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/>
          <p:nvPr>
            <p:ph type="title"/>
          </p:nvPr>
        </p:nvSpPr>
        <p:spPr>
          <a:xfrm>
            <a:off x="440267" y="365125"/>
            <a:ext cx="11311466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5553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Scope of Engagement</a:t>
            </a:r>
            <a:r>
              <a:rPr lang="en-US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06" name="Google Shape;106;p6"/>
          <p:cNvSpPr txBox="1"/>
          <p:nvPr>
            <p:ph idx="11" type="ftr"/>
          </p:nvPr>
        </p:nvSpPr>
        <p:spPr>
          <a:xfrm>
            <a:off x="6776545" y="6256344"/>
            <a:ext cx="4725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2024. Saviynt Inc. All Rights Reserved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3044932" y="5586162"/>
            <a:ext cx="76901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n-US" sz="1400" u="sng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&lt; Modify as per your scope&gt;</a:t>
            </a:r>
            <a:endParaRPr/>
          </a:p>
        </p:txBody>
      </p:sp>
      <p:sp>
        <p:nvSpPr>
          <p:cNvPr id="108" name="Google Shape;108;p6"/>
          <p:cNvSpPr txBox="1"/>
          <p:nvPr/>
        </p:nvSpPr>
        <p:spPr>
          <a:xfrm>
            <a:off x="440267" y="851599"/>
            <a:ext cx="11062006" cy="4118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 our understanding of </a:t>
            </a:r>
            <a:r>
              <a:rPr b="0" i="0" lang="en-US" sz="12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[CUSTOMER]’s 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scope, we have summarized project scope as below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1: Building CPAM environment – Addressing core requirements for Audit </a:t>
            </a:r>
            <a:endParaRPr/>
          </a:p>
          <a:p>
            <a:pPr indent="-169863" lvl="0" marL="169863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Active Directory Privileged Accounts and service Accounts onboarding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Policy based password rotation, Check-in/check-out, Password policy, Credential checkout, Credential Less ADAM(AD Console) access</a:t>
            </a:r>
            <a:endParaRPr/>
          </a:p>
          <a:p>
            <a:pPr indent="-169863" lvl="0" marL="169863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One AWS account onboarding, Machine discovery, Session Recording and playback, Workload access method (Credential, Credential Less, and Just in Time), AWS console, Linux and Windows workload protections</a:t>
            </a:r>
            <a:endParaRPr/>
          </a:p>
          <a:p>
            <a:pPr indent="-169863" lvl="0" marL="169863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Splunk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(Security Information and Event Management – SIEM) integration.</a:t>
            </a:r>
            <a:endParaRPr b="0" i="0" sz="1200" u="none" cap="none" strike="noStrike">
              <a:solidFill>
                <a:schemeClr val="dk1"/>
              </a:solidFill>
              <a:highlight>
                <a:srgbClr val="FABD2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169863" lvl="0" marL="169863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OnPerm Vault Integration</a:t>
            </a:r>
            <a:endParaRPr/>
          </a:p>
          <a:p>
            <a:pPr indent="-169863" lvl="0" marL="169863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Five OOB (Out of box) reports and control center configuration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2: Expansion of CPAM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Automatic password rotation (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Windows Services, Schedule Tasks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Service Account Management 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(Active Directory Service Account management, Strategy definition to reduce service accounts, Service Account removal from Unix servers.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(2) AWS accounts 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onboarding to cover “console, Linux, Windows and DB” workloads to extend phase-1 solution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design to onboard 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OnPerm infrastructure 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(Up to 5 sets of unique combinations of machines) to demonstrate JIT, Credential Less, Credential access to Windows/Linux and DB workloads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type="title"/>
          </p:nvPr>
        </p:nvSpPr>
        <p:spPr>
          <a:xfrm>
            <a:off x="440267" y="365125"/>
            <a:ext cx="11311466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553"/>
              <a:buNone/>
            </a:pPr>
            <a:r>
              <a:rPr lang="en-US">
                <a:solidFill>
                  <a:schemeClr val="dk1"/>
                </a:solidFill>
              </a:rPr>
              <a:t>How Saviynt fit in [Customer]’s IT ECO SYSTEM </a:t>
            </a:r>
            <a:endParaRPr/>
          </a:p>
        </p:txBody>
      </p:sp>
      <p:sp>
        <p:nvSpPr>
          <p:cNvPr id="114" name="Google Shape;114;p7"/>
          <p:cNvSpPr txBox="1"/>
          <p:nvPr>
            <p:ph idx="11" type="ftr"/>
          </p:nvPr>
        </p:nvSpPr>
        <p:spPr>
          <a:xfrm>
            <a:off x="6776545" y="6256344"/>
            <a:ext cx="4725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2024. Saviynt Inc. All Rights Reserved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571500" y="1143000"/>
            <a:ext cx="60731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To establish a process that provides the right access to the right users at the right time, we need to understand the following: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The roles, permissions, and access rights available within your application.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The current users who have access to these roles and permissions.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The business processes that determine who should receive these rights and when.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How Saviynt can integrate with your application, whether through database access, APIs, SDKs, or other methods.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For our discovery process, we’ll need approximately two hours with a subject matter expert (SME) for your application to: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Complete an application questionnaire.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Provide additional information and answer any follow-up questions in a meeting to ensure clarity.</a:t>
            </a:r>
            <a:endParaRPr b="0" i="0" sz="12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7936992" y="1335024"/>
            <a:ext cx="3054096" cy="384962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Integration Diagram </a:t>
            </a:r>
            <a:b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 “Saviynt EIC in Customer’s EcoSystem” in TTV Reference material</a:t>
            </a:r>
            <a:endParaRPr/>
          </a:p>
        </p:txBody>
      </p:sp>
      <p:sp>
        <p:nvSpPr>
          <p:cNvPr id="117" name="Google Shape;117;p7"/>
          <p:cNvSpPr txBox="1"/>
          <p:nvPr/>
        </p:nvSpPr>
        <p:spPr>
          <a:xfrm>
            <a:off x="3044932" y="5586162"/>
            <a:ext cx="76901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n-US" sz="1400" u="sng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&lt; Add all details for App Discovery and provide an App Questionnaire &gt;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2"/>
          <p:cNvSpPr txBox="1"/>
          <p:nvPr>
            <p:ph type="title"/>
          </p:nvPr>
        </p:nvSpPr>
        <p:spPr>
          <a:xfrm>
            <a:off x="440267" y="365125"/>
            <a:ext cx="11311466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553"/>
              <a:buNone/>
            </a:pPr>
            <a:r>
              <a:rPr lang="en-US"/>
              <a:t>Timeline</a:t>
            </a:r>
            <a:r>
              <a:rPr lang="en-US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23" name="Google Shape;123;p42"/>
          <p:cNvSpPr txBox="1"/>
          <p:nvPr>
            <p:ph idx="11" type="ftr"/>
          </p:nvPr>
        </p:nvSpPr>
        <p:spPr>
          <a:xfrm>
            <a:off x="6776545" y="6256344"/>
            <a:ext cx="4725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2024. Saviynt Inc. All Rights Reserved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2"/>
          <p:cNvSpPr txBox="1"/>
          <p:nvPr/>
        </p:nvSpPr>
        <p:spPr>
          <a:xfrm>
            <a:off x="3044932" y="5586162"/>
            <a:ext cx="76901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n-US" sz="1400" u="sng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&lt; Add Project Plan or High-Level execution&gt;</a:t>
            </a:r>
            <a:endParaRPr/>
          </a:p>
        </p:txBody>
      </p:sp>
      <p:graphicFrame>
        <p:nvGraphicFramePr>
          <p:cNvPr id="125" name="Google Shape;125;p42"/>
          <p:cNvGraphicFramePr/>
          <p:nvPr/>
        </p:nvGraphicFramePr>
        <p:xfrm>
          <a:off x="700414" y="11477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{36A09B7E-2FAD-43E5-8E91-5C8C0D273A2B}</a:tableStyleId>
              </a:tblPr>
              <a:tblGrid>
                <a:gridCol w="18562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  <a:gridCol w="446750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Weeks</a:t>
                      </a:r>
                      <a:endParaRPr b="1" i="0" sz="105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40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1" i="0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1" i="0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1" i="0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b="1" i="0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137150" marB="137150" marR="137150" marL="137150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137150" marB="137150" marR="137150" marL="137150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137150" marB="137150" marR="137150" marL="137150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137150" marB="137150" marR="137150" marL="137150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137150" marB="137150" marR="137150" marL="137150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137150" marB="137150" marR="137150" marL="137150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T="137150" marB="137150" marR="137150" marL="137150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137150" marB="137150" marR="137150" marL="137150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/>
                    </a:p>
                  </a:txBody>
                  <a:tcPr marT="137150" marB="137150" marR="137150" marL="137150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/>
                    </a:p>
                  </a:txBody>
                  <a:tcPr marT="137150" marB="137150" marR="137150" marL="137150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/>
                    </a:p>
                  </a:txBody>
                  <a:tcPr marT="137150" marB="137150" marR="137150" marL="137150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/>
                    </a:p>
                  </a:txBody>
                  <a:tcPr marT="137150" marB="137150" marR="137150" marL="137150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/>
                    </a:p>
                  </a:txBody>
                  <a:tcPr marT="137150" marB="137150" marR="137150" marL="137150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/>
                    </a:p>
                  </a:txBody>
                  <a:tcPr marT="137150" marB="137150" marR="137150" marL="137150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/>
                    </a:p>
                  </a:txBody>
                  <a:tcPr marT="137150" marB="137150" marR="137150" marL="137150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/>
                    </a:p>
                  </a:txBody>
                  <a:tcPr marT="137150" marB="137150" marR="137150" marL="137150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Period Start Date</a:t>
                      </a:r>
                      <a:endParaRPr/>
                    </a:p>
                  </a:txBody>
                  <a:tcPr marT="137150" marB="137150" marR="137150" marL="1371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4054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 anchorCtr="1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D8A"/>
                    </a:solidFill>
                  </a:tcPr>
                </a:tc>
                <a:tc hMerge="1"/>
                <a:tc hMerge="1"/>
                <a:tc hMerge="1"/>
              </a:tr>
              <a:tr h="54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accent2"/>
                          </a:solidFill>
                        </a:rPr>
                        <a:t>Scope Areas</a:t>
                      </a:r>
                      <a:endParaRPr/>
                    </a:p>
                  </a:txBody>
                  <a:tcPr marT="137150" marB="137150" marR="137150" marL="137150" anchor="ctr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150" marB="137150" marR="137150" marL="1371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IGA Discovery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405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BE2B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BE2B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6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Architectural Design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405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E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E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6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CPAM Discovery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405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E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E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E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E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E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E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6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IAM / IGA / CPAM </a:t>
                      </a:r>
                      <a:b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Core Implementations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405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6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IGA / PAM Rollout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405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6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Transition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405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BE2B"/>
                    </a:solidFill>
                  </a:tcPr>
                </a:tc>
                <a:tc>
                  <a:txBody>
                    <a:bodyPr/>
                    <a:lstStyle/>
                    <a:p>
                      <a:pPr indent="-55371" lvl="0" marL="118871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359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BE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/>
        </p:nvSpPr>
        <p:spPr>
          <a:xfrm>
            <a:off x="638200" y="471675"/>
            <a:ext cx="101952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Manrope ExtraBold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Learn</a:t>
            </a:r>
            <a:r>
              <a:rPr b="1" i="0" lang="en-US" sz="5400" u="none" cap="none" strike="noStrik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 </a:t>
            </a:r>
            <a:r>
              <a:rPr b="0" i="0" lang="en-US" sz="4400" u="none" cap="none" strike="noStrike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746550" y="1597800"/>
            <a:ext cx="8006000" cy="4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To learn more about Saviynt Solutions Exchange, visit our website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	</a:t>
            </a:r>
            <a:r>
              <a:rPr b="0" i="0" lang="en-US" sz="2000" u="sng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https://saviynt.com/exchange/solutions</a:t>
            </a:r>
            <a:endParaRPr b="0" i="0" sz="2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Questions? Contact our team.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Partner Solution Lead: 	</a:t>
            </a:r>
            <a:endParaRPr b="0" i="0" sz="2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457200" lvl="0" marL="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Mudit Kumar Sharma,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	Sr. Manager - Partner Solutions</a:t>
            </a:r>
            <a:br>
              <a:rPr b="0" i="0" lang="en-US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	mudit.sharma@saviynt.com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9082050" y="2555025"/>
            <a:ext cx="2898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Mudit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Sharma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Partner Solutions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9473250" y="5209600"/>
            <a:ext cx="1972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Suraj Krishnaiah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VP - Saviynt University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0550" y="3219450"/>
            <a:ext cx="1894900" cy="175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99075" y="618800"/>
            <a:ext cx="2075575" cy="193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3"/>
          <p:cNvSpPr txBox="1"/>
          <p:nvPr>
            <p:ph idx="4294967295" type="sldNum"/>
          </p:nvPr>
        </p:nvSpPr>
        <p:spPr>
          <a:xfrm>
            <a:off x="11715946" y="6198348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43"/>
          <p:cNvSpPr txBox="1"/>
          <p:nvPr/>
        </p:nvSpPr>
        <p:spPr>
          <a:xfrm>
            <a:off x="657639" y="5147253"/>
            <a:ext cx="2257011" cy="619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3"/>
          <p:cNvSpPr/>
          <p:nvPr/>
        </p:nvSpPr>
        <p:spPr>
          <a:xfrm>
            <a:off x="657639" y="4964998"/>
            <a:ext cx="628650" cy="18225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text on a black background&#10;&#10;Description automatically generated" id="143" name="Google Shape;14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639" y="5698920"/>
            <a:ext cx="1816100" cy="49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Saviynt">
      <a:dk1>
        <a:srgbClr val="10123C"/>
      </a:dk1>
      <a:lt1>
        <a:srgbClr val="FFFFFF"/>
      </a:lt1>
      <a:dk2>
        <a:srgbClr val="44546A"/>
      </a:dk2>
      <a:lt2>
        <a:srgbClr val="EEEDE1"/>
      </a:lt2>
      <a:accent1>
        <a:srgbClr val="5BA1BA"/>
      </a:accent1>
      <a:accent2>
        <a:srgbClr val="936905"/>
      </a:accent2>
      <a:accent3>
        <a:srgbClr val="2F8920"/>
      </a:accent3>
      <a:accent4>
        <a:srgbClr val="3A3A66"/>
      </a:accent4>
      <a:accent5>
        <a:srgbClr val="005E77"/>
      </a:accent5>
      <a:accent6>
        <a:srgbClr val="C9A224"/>
      </a:accent6>
      <a:hlink>
        <a:srgbClr val="5BA1BA"/>
      </a:hlink>
      <a:folHlink>
        <a:srgbClr val="EEED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2024-04-24T12:44:11Z</dcterms:created>
  <dc:creator>Mudit Kumar Sharma</dc:creator>
</cp:coreProperties>
</file>