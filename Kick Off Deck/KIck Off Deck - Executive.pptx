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076137608" r:id="rId4"/>
    <p:sldId id="2076137609" r:id="rId5"/>
    <p:sldId id="2076137610" r:id="rId6"/>
    <p:sldId id="2076137611" r:id="rId7"/>
    <p:sldId id="2076137614" r:id="rId8"/>
    <p:sldId id="2076137612" r:id="rId9"/>
    <p:sldId id="2076137613" r:id="rId10"/>
    <p:sldId id="2076137606" r:id="rId11"/>
  </p:sldIdLst>
  <p:sldSz cx="12192000" cy="6858000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02C361A-13AB-4550-930C-531D5F02BF65}">
          <p14:sldIdLst>
            <p14:sldId id="256"/>
            <p14:sldId id="260"/>
            <p14:sldId id="2076137608"/>
            <p14:sldId id="2076137609"/>
            <p14:sldId id="2076137610"/>
            <p14:sldId id="2076137611"/>
            <p14:sldId id="2076137614"/>
            <p14:sldId id="2076137612"/>
            <p14:sldId id="2076137613"/>
          </p14:sldIdLst>
        </p14:section>
        <p14:section name="Next Steps" id="{014A8D79-CB57-477D-98D0-0CEE4C8347C1}">
          <p14:sldIdLst>
            <p14:sldId id="2076137606"/>
          </p14:sldIdLst>
        </p14:section>
        <p14:section name="Appendix" id="{F0EAE10D-366A-4E6E-932F-8901020031E4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3" roundtripDataSignature="AMtx7mjrMwpwpFpdX7eJGP5g7lyGyzL1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A1BA"/>
    <a:srgbClr val="A78534"/>
    <a:srgbClr val="0F123D"/>
    <a:srgbClr val="2F8921"/>
    <a:srgbClr val="005E77"/>
    <a:srgbClr val="549C48"/>
    <a:srgbClr val="98C491"/>
    <a:srgbClr val="64885E"/>
    <a:srgbClr val="82B87A"/>
    <a:srgbClr val="9CB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86F093-9724-4553-BF4F-1DE5B73C860E}">
  <a:tblStyle styleId="{EE86F093-9724-4553-BF4F-1DE5B73C86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F0F3"/>
          </a:solidFill>
        </a:fill>
      </a:tcStyle>
    </a:wholeTbl>
    <a:band1H>
      <a:tcTxStyle b="off" i="off"/>
      <a:tcStyle>
        <a:tcBdr/>
        <a:fill>
          <a:solidFill>
            <a:srgbClr val="D0DFE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FE6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A602A8F-98D3-46AB-AAFE-FB6482B2B07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AA57F55-1821-46CC-80E2-12D37CEC2027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574DB59-6105-4C74-B97C-09944564D076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F0F3"/>
          </a:solidFill>
        </a:fill>
      </a:tcStyle>
    </a:wholeTbl>
    <a:band1H>
      <a:tcTxStyle b="off" i="off"/>
      <a:tcStyle>
        <a:tcBdr/>
        <a:fill>
          <a:solidFill>
            <a:srgbClr val="D0DFE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FE6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94660"/>
  </p:normalViewPr>
  <p:slideViewPr>
    <p:cSldViewPr snapToGrid="0">
      <p:cViewPr varScale="1">
        <p:scale>
          <a:sx n="71" d="100"/>
          <a:sy n="71" d="100"/>
        </p:scale>
        <p:origin x="436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1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83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4" name="Google Shape;8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84812c6fd_5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2" name="Google Shape;1132;g3084812c6fd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C394ABC2-2EC7-8648-7528-71C7A61F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84812c6fd_5_0:notes">
            <a:extLst>
              <a:ext uri="{FF2B5EF4-FFF2-40B4-BE49-F238E27FC236}">
                <a16:creationId xmlns:a16="http://schemas.microsoft.com/office/drawing/2014/main" id="{7B8D85B0-DBA1-9EE7-B5B4-575659AD72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2" name="Google Shape;1132;g3084812c6fd_5_0:notes">
            <a:extLst>
              <a:ext uri="{FF2B5EF4-FFF2-40B4-BE49-F238E27FC236}">
                <a16:creationId xmlns:a16="http://schemas.microsoft.com/office/drawing/2014/main" id="{0632A91A-3F14-FA13-110F-13B78BE872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8927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A1FBC772-95B2-4B6D-6979-10D96FCC2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84812c6fd_5_0:notes">
            <a:extLst>
              <a:ext uri="{FF2B5EF4-FFF2-40B4-BE49-F238E27FC236}">
                <a16:creationId xmlns:a16="http://schemas.microsoft.com/office/drawing/2014/main" id="{7BDC6F50-303D-D91F-D2C2-2E4250118C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2" name="Google Shape;1132;g3084812c6fd_5_0:notes">
            <a:extLst>
              <a:ext uri="{FF2B5EF4-FFF2-40B4-BE49-F238E27FC236}">
                <a16:creationId xmlns:a16="http://schemas.microsoft.com/office/drawing/2014/main" id="{7D7DE7D0-AF48-0BDF-78C7-9193728BB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34689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B72237ED-8228-AE03-310D-4FF5CE3A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84812c6fd_5_0:notes">
            <a:extLst>
              <a:ext uri="{FF2B5EF4-FFF2-40B4-BE49-F238E27FC236}">
                <a16:creationId xmlns:a16="http://schemas.microsoft.com/office/drawing/2014/main" id="{72E1A88C-D8EF-BBA6-7847-0648B95F5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2" name="Google Shape;1132;g3084812c6fd_5_0:notes">
            <a:extLst>
              <a:ext uri="{FF2B5EF4-FFF2-40B4-BE49-F238E27FC236}">
                <a16:creationId xmlns:a16="http://schemas.microsoft.com/office/drawing/2014/main" id="{657B1A08-BD20-4AA1-F4E6-A30CA06CA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878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4EDAF40F-DB41-614B-66D1-1B89D0D9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84812c6fd_5_0:notes">
            <a:extLst>
              <a:ext uri="{FF2B5EF4-FFF2-40B4-BE49-F238E27FC236}">
                <a16:creationId xmlns:a16="http://schemas.microsoft.com/office/drawing/2014/main" id="{7F872ADF-44E0-C104-F466-C712EB6F0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2" name="Google Shape;1132;g3084812c6fd_5_0:notes">
            <a:extLst>
              <a:ext uri="{FF2B5EF4-FFF2-40B4-BE49-F238E27FC236}">
                <a16:creationId xmlns:a16="http://schemas.microsoft.com/office/drawing/2014/main" id="{6C254644-E9B6-62F3-C4BA-32A65A060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4694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279484E5-1B62-CF2E-52D8-078C63A64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84812c6fd_5_0:notes">
            <a:extLst>
              <a:ext uri="{FF2B5EF4-FFF2-40B4-BE49-F238E27FC236}">
                <a16:creationId xmlns:a16="http://schemas.microsoft.com/office/drawing/2014/main" id="{A3EBFBEE-6916-BC79-C5C9-8A44AD899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2" name="Google Shape;1132;g3084812c6fd_5_0:notes">
            <a:extLst>
              <a:ext uri="{FF2B5EF4-FFF2-40B4-BE49-F238E27FC236}">
                <a16:creationId xmlns:a16="http://schemas.microsoft.com/office/drawing/2014/main" id="{DA40E4ED-91FE-3CAD-2DDD-94ECAB8CA5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4370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68DF881F-EA69-0F9D-4868-6F63B89F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84812c6fd_5_0:notes">
            <a:extLst>
              <a:ext uri="{FF2B5EF4-FFF2-40B4-BE49-F238E27FC236}">
                <a16:creationId xmlns:a16="http://schemas.microsoft.com/office/drawing/2014/main" id="{EC03AFEE-5C5C-AE0B-D918-1A0439EE2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2" name="Google Shape;1132;g3084812c6fd_5_0:notes">
            <a:extLst>
              <a:ext uri="{FF2B5EF4-FFF2-40B4-BE49-F238E27FC236}">
                <a16:creationId xmlns:a16="http://schemas.microsoft.com/office/drawing/2014/main" id="{4F350261-7263-615A-6C80-FFA4D1EB1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48909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6D45BBA3-56A6-B241-74C0-3CB931FB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84812c6fd_5_0:notes">
            <a:extLst>
              <a:ext uri="{FF2B5EF4-FFF2-40B4-BE49-F238E27FC236}">
                <a16:creationId xmlns:a16="http://schemas.microsoft.com/office/drawing/2014/main" id="{63BF62E1-53DB-118C-BFFB-778E78A80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2" name="Google Shape;1132;g3084812c6fd_5_0:notes">
            <a:extLst>
              <a:ext uri="{FF2B5EF4-FFF2-40B4-BE49-F238E27FC236}">
                <a16:creationId xmlns:a16="http://schemas.microsoft.com/office/drawing/2014/main" id="{97AE8B71-50E2-F3CB-E9D2-F96956B549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9956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7" name="Google Shape;447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0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677475" y="6254910"/>
            <a:ext cx="693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11715946" y="625491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471"/>
            <a:ext cx="12192000" cy="684505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 txBox="1">
            <a:spLocks noGrp="1"/>
          </p:cNvSpPr>
          <p:nvPr>
            <p:ph type="ctrTitle"/>
          </p:nvPr>
        </p:nvSpPr>
        <p:spPr>
          <a:xfrm>
            <a:off x="486189" y="431090"/>
            <a:ext cx="5609811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ubTitle" idx="1"/>
          </p:nvPr>
        </p:nvSpPr>
        <p:spPr>
          <a:xfrm>
            <a:off x="486189" y="3119119"/>
            <a:ext cx="7073735" cy="144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5" name="Google Shape;25;p10" descr="A white text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189" y="5766911"/>
            <a:ext cx="1816100" cy="49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matted">
  <p:cSld name="Formatted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ec16922d48_0_196"/>
          <p:cNvSpPr txBox="1">
            <a:spLocks noGrp="1"/>
          </p:cNvSpPr>
          <p:nvPr>
            <p:ph type="title"/>
          </p:nvPr>
        </p:nvSpPr>
        <p:spPr>
          <a:xfrm>
            <a:off x="334962" y="185384"/>
            <a:ext cx="11522100" cy="7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2ec16922d48_0_196"/>
          <p:cNvSpPr txBox="1">
            <a:spLocks noGrp="1"/>
          </p:cNvSpPr>
          <p:nvPr>
            <p:ph type="ftr" idx="11"/>
          </p:nvPr>
        </p:nvSpPr>
        <p:spPr>
          <a:xfrm>
            <a:off x="8682085" y="6311472"/>
            <a:ext cx="283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2ec16922d48_0_196"/>
          <p:cNvSpPr txBox="1">
            <a:spLocks noGrp="1"/>
          </p:cNvSpPr>
          <p:nvPr>
            <p:ph type="sldNum" idx="12"/>
          </p:nvPr>
        </p:nvSpPr>
        <p:spPr>
          <a:xfrm>
            <a:off x="11715946" y="6311472"/>
            <a:ext cx="457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2ec16922d48_0_196"/>
          <p:cNvSpPr txBox="1">
            <a:spLocks noGrp="1"/>
          </p:cNvSpPr>
          <p:nvPr>
            <p:ph type="body" idx="1"/>
          </p:nvPr>
        </p:nvSpPr>
        <p:spPr>
          <a:xfrm>
            <a:off x="334962" y="1089024"/>
            <a:ext cx="11522100" cy="52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2 Columns Content">
  <p:cSld name="1_Title and 2 Columns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111187" cy="420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ftr" idx="11"/>
          </p:nvPr>
        </p:nvSpPr>
        <p:spPr>
          <a:xfrm>
            <a:off x="4677475" y="6254910"/>
            <a:ext cx="693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sldNum" idx="12"/>
          </p:nvPr>
        </p:nvSpPr>
        <p:spPr>
          <a:xfrm>
            <a:off x="11715946" y="625491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2"/>
          </p:nvPr>
        </p:nvSpPr>
        <p:spPr>
          <a:xfrm>
            <a:off x="6242613" y="1825625"/>
            <a:ext cx="5111187" cy="420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Section Federal Government">
  <p:cSld name="9_Section Federal Governm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0"/>
          <p:cNvSpPr txBox="1">
            <a:spLocks noGrp="1"/>
          </p:cNvSpPr>
          <p:nvPr>
            <p:ph type="title"/>
          </p:nvPr>
        </p:nvSpPr>
        <p:spPr>
          <a:xfrm>
            <a:off x="944880" y="1628579"/>
            <a:ext cx="6772717" cy="1800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ftr" idx="11"/>
          </p:nvPr>
        </p:nvSpPr>
        <p:spPr>
          <a:xfrm>
            <a:off x="944880" y="6254910"/>
            <a:ext cx="693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7" name="Google Shape;47;p40" descr="A white text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880" y="613459"/>
            <a:ext cx="1500729" cy="4127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0"/>
          <p:cNvSpPr txBox="1">
            <a:spLocks noGrp="1"/>
          </p:cNvSpPr>
          <p:nvPr>
            <p:ph type="body" idx="1"/>
          </p:nvPr>
        </p:nvSpPr>
        <p:spPr>
          <a:xfrm>
            <a:off x="944880" y="3455988"/>
            <a:ext cx="483974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2000"/>
              <a:buNone/>
              <a:defRPr sz="2000">
                <a:solidFill>
                  <a:srgbClr val="88888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800"/>
              <a:buNone/>
              <a:defRPr sz="1800">
                <a:solidFill>
                  <a:srgbClr val="88888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F"/>
              </a:buClr>
              <a:buSzPts val="1600"/>
              <a:buNone/>
              <a:defRPr sz="1600">
                <a:solidFill>
                  <a:srgbClr val="88888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91"/>
          <p:cNvGrpSpPr/>
          <p:nvPr/>
        </p:nvGrpSpPr>
        <p:grpSpPr>
          <a:xfrm>
            <a:off x="0" y="11572"/>
            <a:ext cx="12190035" cy="6845057"/>
            <a:chOff x="0" y="11572"/>
            <a:chExt cx="12190035" cy="6845057"/>
          </a:xfrm>
        </p:grpSpPr>
        <p:grpSp>
          <p:nvGrpSpPr>
            <p:cNvPr id="42" name="Google Shape;42;p91"/>
            <p:cNvGrpSpPr/>
            <p:nvPr/>
          </p:nvGrpSpPr>
          <p:grpSpPr>
            <a:xfrm>
              <a:off x="8274768" y="11572"/>
              <a:ext cx="3915267" cy="6845057"/>
              <a:chOff x="8274768" y="11572"/>
              <a:chExt cx="3915267" cy="6845057"/>
            </a:xfrm>
          </p:grpSpPr>
          <p:grpSp>
            <p:nvGrpSpPr>
              <p:cNvPr id="43" name="Google Shape;43;p91"/>
              <p:cNvGrpSpPr/>
              <p:nvPr/>
            </p:nvGrpSpPr>
            <p:grpSpPr>
              <a:xfrm>
                <a:off x="9585206" y="11572"/>
                <a:ext cx="2604829" cy="6845057"/>
                <a:chOff x="9587171" y="0"/>
                <a:chExt cx="2604829" cy="6845057"/>
              </a:xfrm>
            </p:grpSpPr>
            <p:pic>
              <p:nvPicPr>
                <p:cNvPr id="44" name="Google Shape;44;p91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 l="78635"/>
                <a:stretch/>
              </p:blipFill>
              <p:spPr>
                <a:xfrm>
                  <a:off x="9587171" y="0"/>
                  <a:ext cx="2604829" cy="68450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5" name="Google Shape;45;p91"/>
                <p:cNvSpPr txBox="1"/>
                <p:nvPr/>
              </p:nvSpPr>
              <p:spPr>
                <a:xfrm>
                  <a:off x="9668187" y="6168291"/>
                  <a:ext cx="779400" cy="60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Identity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Protects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growth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46;p91"/>
                <p:cNvSpPr txBox="1"/>
                <p:nvPr/>
              </p:nvSpPr>
              <p:spPr>
                <a:xfrm>
                  <a:off x="9668187" y="1585900"/>
                  <a:ext cx="1042200" cy="60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Identity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protects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productivity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" name="Google Shape;47;p91"/>
                <p:cNvSpPr txBox="1"/>
                <p:nvPr/>
              </p:nvSpPr>
              <p:spPr>
                <a:xfrm>
                  <a:off x="10998224" y="3903073"/>
                  <a:ext cx="774600" cy="60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Identity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protects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US" sz="1100" b="0" i="0" u="none" strike="noStrike" cap="none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value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8" name="Google Shape;48;p91"/>
              <p:cNvSpPr/>
              <p:nvPr/>
            </p:nvSpPr>
            <p:spPr>
              <a:xfrm>
                <a:off x="8274768" y="11572"/>
                <a:ext cx="1307592" cy="2276856"/>
              </a:xfrm>
              <a:prstGeom prst="rect">
                <a:avLst/>
              </a:prstGeom>
              <a:solidFill>
                <a:srgbClr val="8282A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91"/>
              <p:cNvSpPr/>
              <p:nvPr/>
            </p:nvSpPr>
            <p:spPr>
              <a:xfrm>
                <a:off x="8274768" y="2288428"/>
                <a:ext cx="1307592" cy="2371875"/>
              </a:xfrm>
              <a:prstGeom prst="rect">
                <a:avLst/>
              </a:prstGeom>
              <a:solidFill>
                <a:srgbClr val="CAA22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91"/>
              <p:cNvSpPr/>
              <p:nvPr/>
            </p:nvSpPr>
            <p:spPr>
              <a:xfrm>
                <a:off x="8274768" y="4660304"/>
                <a:ext cx="1307592" cy="21963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" name="Google Shape;51;p91"/>
            <p:cNvSpPr/>
            <p:nvPr/>
          </p:nvSpPr>
          <p:spPr>
            <a:xfrm>
              <a:off x="0" y="11572"/>
              <a:ext cx="8274767" cy="6841541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3285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" y="6219285"/>
            <a:ext cx="1127760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20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677475" y="6254910"/>
            <a:ext cx="693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11715946" y="625491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9" descr="A white text on a black background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0325" y="6309123"/>
            <a:ext cx="956244" cy="26296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8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"/>
          <p:cNvSpPr txBox="1">
            <a:spLocks noGrp="1"/>
          </p:cNvSpPr>
          <p:nvPr>
            <p:ph type="ctrTitle"/>
          </p:nvPr>
        </p:nvSpPr>
        <p:spPr>
          <a:xfrm>
            <a:off x="409989" y="964490"/>
            <a:ext cx="5609700" cy="185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</a:pPr>
            <a:r>
              <a:rPr lang="en-US" sz="4000" dirty="0"/>
              <a:t>Saviynt Implementation </a:t>
            </a:r>
            <a:br>
              <a:rPr lang="en-US" sz="4000" dirty="0"/>
            </a:br>
            <a:r>
              <a:rPr lang="en-US" sz="4000" dirty="0"/>
              <a:t>CPAM Overview</a:t>
            </a:r>
            <a:endParaRPr dirty="0"/>
          </a:p>
        </p:txBody>
      </p:sp>
      <p:sp>
        <p:nvSpPr>
          <p:cNvPr id="877" name="Google Shape;877;p1"/>
          <p:cNvSpPr txBox="1">
            <a:spLocks noGrp="1"/>
          </p:cNvSpPr>
          <p:nvPr>
            <p:ph type="subTitle" idx="1"/>
          </p:nvPr>
        </p:nvSpPr>
        <p:spPr>
          <a:xfrm>
            <a:off x="486200" y="4149151"/>
            <a:ext cx="7073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OCT 2024</a:t>
            </a:r>
            <a:endParaRPr dirty="0"/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id="{9B71F1E8-8FFD-1714-7275-2C1A12ACC73E}"/>
              </a:ext>
            </a:extLst>
          </p:cNvPr>
          <p:cNvSpPr txBox="1">
            <a:spLocks/>
          </p:cNvSpPr>
          <p:nvPr/>
        </p:nvSpPr>
        <p:spPr>
          <a:xfrm>
            <a:off x="333756" y="2997898"/>
            <a:ext cx="5524500" cy="57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Project Kickoff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84812c6fd_5_0"/>
          <p:cNvSpPr txBox="1">
            <a:spLocks noGrp="1"/>
          </p:cNvSpPr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4"/>
              <a:buNone/>
            </a:pPr>
            <a:r>
              <a:rPr lang="en-US" dirty="0"/>
              <a:t>Agenda</a:t>
            </a:r>
            <a:r>
              <a:rPr lang="en-US" dirty="0">
                <a:solidFill>
                  <a:schemeClr val="dk1"/>
                </a:solidFill>
              </a:rPr>
              <a:t> </a:t>
            </a:r>
            <a:endParaRPr dirty="0"/>
          </a:p>
        </p:txBody>
      </p:sp>
      <p:sp>
        <p:nvSpPr>
          <p:cNvPr id="1135" name="Google Shape;1135;g3084812c6fd_5_0"/>
          <p:cNvSpPr txBox="1">
            <a:spLocks noGrp="1"/>
          </p:cNvSpPr>
          <p:nvPr>
            <p:ph type="ftr" idx="11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5BD42E-81A3-8D73-ACF0-FA7E18554A4C}"/>
              </a:ext>
            </a:extLst>
          </p:cNvPr>
          <p:cNvSpPr txBox="1">
            <a:spLocks/>
          </p:cNvSpPr>
          <p:nvPr/>
        </p:nvSpPr>
        <p:spPr>
          <a:xfrm>
            <a:off x="571499" y="1143000"/>
            <a:ext cx="6205046" cy="4572000"/>
          </a:xfrm>
          <a:prstGeom prst="rect">
            <a:avLst/>
          </a:prstGeom>
        </p:spPr>
        <p:txBody>
          <a:bodyPr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Symbol" panose="05050102010706020507" pitchFamily="18" charset="2"/>
              <a:buChar char=""/>
            </a:pPr>
            <a:r>
              <a:rPr lang="en-US" sz="1800" dirty="0">
                <a:ea typeface="Times New Roman" panose="02020603050405020304" pitchFamily="18" charset="0"/>
              </a:rPr>
              <a:t>Introductions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endParaRPr lang="en-US" sz="1800" dirty="0">
              <a:ea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en-US" sz="1800" dirty="0">
                <a:ea typeface="Times New Roman" panose="02020603050405020304" pitchFamily="18" charset="0"/>
              </a:rPr>
              <a:t>Why a </a:t>
            </a:r>
            <a:r>
              <a:rPr lang="en-US" sz="1800" dirty="0">
                <a:highlight>
                  <a:srgbClr val="FFFF00"/>
                </a:highlight>
                <a:ea typeface="Times New Roman" panose="02020603050405020304" pitchFamily="18" charset="0"/>
              </a:rPr>
              <a:t>Cloud Privileged Access Management </a:t>
            </a:r>
            <a:r>
              <a:rPr lang="en-US" sz="1800" dirty="0">
                <a:ea typeface="Times New Roman" panose="02020603050405020304" pitchFamily="18" charset="0"/>
              </a:rPr>
              <a:t>solution is important to </a:t>
            </a:r>
            <a:r>
              <a:rPr lang="en-US" sz="1800" dirty="0">
                <a:highlight>
                  <a:srgbClr val="FFFF00"/>
                </a:highlight>
                <a:ea typeface="Times New Roman" panose="02020603050405020304" pitchFamily="18" charset="0"/>
              </a:rPr>
              <a:t>[CUSTOMER]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endParaRPr lang="en-US" sz="1800" dirty="0">
              <a:ea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en-US" sz="1800" dirty="0">
                <a:ea typeface="Times New Roman" panose="02020603050405020304" pitchFamily="18" charset="0"/>
                <a:cs typeface="Calibri"/>
              </a:rPr>
              <a:t>Who is implementing this and who is impacted</a:t>
            </a:r>
            <a:endParaRPr lang="en-US" sz="1800" dirty="0">
              <a:ea typeface="Times New Roman" panose="02020603050405020304" pitchFamily="18" charset="0"/>
            </a:endParaRPr>
          </a:p>
          <a:p>
            <a:endParaRPr lang="en-US" sz="1800" dirty="0">
              <a:ea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en-US" sz="1800" dirty="0">
                <a:ea typeface="Times New Roman" panose="02020603050405020304" pitchFamily="18" charset="0"/>
              </a:rPr>
              <a:t>What will be required from the </a:t>
            </a:r>
            <a:r>
              <a:rPr lang="en-US" sz="1800" dirty="0">
                <a:highlight>
                  <a:srgbClr val="FFFF00"/>
                </a:highlight>
                <a:ea typeface="Times New Roman" panose="02020603050405020304" pitchFamily="18" charset="0"/>
              </a:rPr>
              <a:t>[CUSTOMER] </a:t>
            </a:r>
            <a:r>
              <a:rPr lang="en-US" sz="1800" dirty="0">
                <a:ea typeface="Times New Roman" panose="02020603050405020304" pitchFamily="18" charset="0"/>
              </a:rPr>
              <a:t>team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endParaRPr lang="en-US" sz="1800" dirty="0">
              <a:ea typeface="Times New Roman" panose="02020603050405020304" pitchFamily="18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en-US" sz="1800" dirty="0">
                <a:ea typeface="Times New Roman" panose="02020603050405020304" pitchFamily="18" charset="0"/>
              </a:rPr>
              <a:t>What does the project timeline look like</a:t>
            </a:r>
            <a:br>
              <a:rPr lang="en-US" sz="1800" dirty="0">
                <a:ea typeface="Times New Roman" panose="02020603050405020304" pitchFamily="18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621AFA-63DF-5A23-A311-FA4C4C506D9E}"/>
              </a:ext>
            </a:extLst>
          </p:cNvPr>
          <p:cNvSpPr/>
          <p:nvPr/>
        </p:nvSpPr>
        <p:spPr>
          <a:xfrm>
            <a:off x="7580376" y="1033272"/>
            <a:ext cx="3675888" cy="46817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Some Graphics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5EB7CD0F-668E-C929-089C-99E43F936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84812c6fd_5_0">
            <a:extLst>
              <a:ext uri="{FF2B5EF4-FFF2-40B4-BE49-F238E27FC236}">
                <a16:creationId xmlns:a16="http://schemas.microsoft.com/office/drawing/2014/main" id="{15030E26-82E3-64D6-7368-3C7B854725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4"/>
              <a:buNone/>
            </a:pPr>
            <a:r>
              <a:rPr lang="en-US" dirty="0"/>
              <a:t>Background</a:t>
            </a:r>
            <a:r>
              <a:rPr lang="en-US" dirty="0">
                <a:solidFill>
                  <a:schemeClr val="dk1"/>
                </a:solidFill>
              </a:rPr>
              <a:t> </a:t>
            </a:r>
            <a:endParaRPr dirty="0"/>
          </a:p>
        </p:txBody>
      </p:sp>
      <p:sp>
        <p:nvSpPr>
          <p:cNvPr id="1135" name="Google Shape;1135;g3084812c6fd_5_0">
            <a:extLst>
              <a:ext uri="{FF2B5EF4-FFF2-40B4-BE49-F238E27FC236}">
                <a16:creationId xmlns:a16="http://schemas.microsoft.com/office/drawing/2014/main" id="{E4E45253-4A5A-7BD4-C7B4-95E53B80423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AAA86-CA49-78C7-A9A9-F8CD0DDE47E1}"/>
              </a:ext>
            </a:extLst>
          </p:cNvPr>
          <p:cNvSpPr txBox="1"/>
          <p:nvPr/>
        </p:nvSpPr>
        <p:spPr>
          <a:xfrm>
            <a:off x="440266" y="1042420"/>
            <a:ext cx="1081599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 Q4 2022, </a:t>
            </a:r>
            <a:r>
              <a:rPr lang="en-US" sz="1400" dirty="0">
                <a:highlight>
                  <a:srgbClr val="FFFF00"/>
                </a:highlight>
                <a:ea typeface="Times New Roman" panose="02020603050405020304" pitchFamily="18" charset="0"/>
              </a:rPr>
              <a:t>[CUSTOMER] </a:t>
            </a:r>
            <a:r>
              <a:rPr lang="en-US" sz="1400" dirty="0"/>
              <a:t> engaged </a:t>
            </a:r>
            <a:r>
              <a:rPr lang="en-US" sz="1400" dirty="0">
                <a:highlight>
                  <a:srgbClr val="FFFF00"/>
                </a:highlight>
              </a:rPr>
              <a:t>[PARTNER] </a:t>
            </a:r>
            <a:r>
              <a:rPr lang="en-US" sz="1400" dirty="0"/>
              <a:t>to identify a best-fit provider of an identity and privileged access management solution.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Saviynt </a:t>
            </a:r>
            <a:r>
              <a:rPr lang="en-US" sz="1400" dirty="0"/>
              <a:t>emerged in Q1 2023 as the top choice, and </a:t>
            </a:r>
            <a:r>
              <a:rPr lang="en-US" sz="1400" dirty="0">
                <a:highlight>
                  <a:srgbClr val="FFFF00"/>
                </a:highlight>
                <a:ea typeface="Times New Roman" panose="02020603050405020304" pitchFamily="18" charset="0"/>
              </a:rPr>
              <a:t>[CUSTOMER]</a:t>
            </a:r>
            <a:r>
              <a:rPr lang="en-US" sz="1400" dirty="0"/>
              <a:t> has engaged </a:t>
            </a:r>
            <a:r>
              <a:rPr lang="en-US" sz="1400" dirty="0">
                <a:highlight>
                  <a:srgbClr val="FFFF00"/>
                </a:highlight>
              </a:rPr>
              <a:t>[PARTNER]</a:t>
            </a:r>
            <a:r>
              <a:rPr lang="en-US" sz="1400" dirty="0"/>
              <a:t> once again. This time, to implement Saviynt as the provider for </a:t>
            </a:r>
            <a:r>
              <a:rPr lang="en-US" sz="1400" dirty="0">
                <a:highlight>
                  <a:srgbClr val="FFFF00"/>
                </a:highlight>
                <a:ea typeface="Times New Roman" panose="02020603050405020304" pitchFamily="18" charset="0"/>
              </a:rPr>
              <a:t>[CUSTOMER] </a:t>
            </a:r>
            <a:r>
              <a:rPr lang="en-US" sz="1400" dirty="0"/>
              <a:t>’s:</a:t>
            </a:r>
            <a:endParaRPr lang="en-US" sz="1400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Identity Governance Administration (IGA)</a:t>
            </a:r>
            <a:endParaRPr lang="en-US" sz="1400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Privileged Access Management (PAM)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  <a:cs typeface="Arial"/>
              </a:rPr>
              <a:t>&lt; Add all relevant information useful for executive Team&gt;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101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1C2AEB77-68C8-14C8-8BBA-75619CEE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84812c6fd_5_0">
            <a:extLst>
              <a:ext uri="{FF2B5EF4-FFF2-40B4-BE49-F238E27FC236}">
                <a16:creationId xmlns:a16="http://schemas.microsoft.com/office/drawing/2014/main" id="{562B27DD-ED31-AFB5-EFCC-AE06429904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4"/>
              <a:buNone/>
            </a:pPr>
            <a:r>
              <a:rPr lang="en-US" dirty="0"/>
              <a:t>Why Saviynt Privileged Access Management?</a:t>
            </a:r>
            <a:r>
              <a:rPr lang="en-US" dirty="0">
                <a:solidFill>
                  <a:schemeClr val="dk1"/>
                </a:solidFill>
              </a:rPr>
              <a:t> </a:t>
            </a:r>
            <a:endParaRPr dirty="0"/>
          </a:p>
        </p:txBody>
      </p:sp>
      <p:sp>
        <p:nvSpPr>
          <p:cNvPr id="1135" name="Google Shape;1135;g3084812c6fd_5_0">
            <a:extLst>
              <a:ext uri="{FF2B5EF4-FFF2-40B4-BE49-F238E27FC236}">
                <a16:creationId xmlns:a16="http://schemas.microsoft.com/office/drawing/2014/main" id="{2E79C5EC-CE52-1260-14EF-6C7D1206A8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6C4E78B-21C4-B358-CE5D-1BE977ABA476}"/>
              </a:ext>
            </a:extLst>
          </p:cNvPr>
          <p:cNvSpPr txBox="1">
            <a:spLocks/>
          </p:cNvSpPr>
          <p:nvPr/>
        </p:nvSpPr>
        <p:spPr>
          <a:xfrm>
            <a:off x="592601" y="1147762"/>
            <a:ext cx="625417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Privileged Access Management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helps to:</a:t>
            </a:r>
          </a:p>
          <a:p>
            <a:pPr lvl="2">
              <a:spcBef>
                <a:spcPts val="600"/>
              </a:spcBef>
            </a:pPr>
            <a:r>
              <a:rPr 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Protect against the misuse of privileged access or assets</a:t>
            </a:r>
          </a:p>
          <a:p>
            <a:pPr lvl="2">
              <a:spcBef>
                <a:spcPts val="600"/>
              </a:spcBef>
            </a:pPr>
            <a:r>
              <a:rPr 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Monitor the activities of privileged users</a:t>
            </a:r>
          </a:p>
          <a:p>
            <a:pPr lvl="2">
              <a:spcBef>
                <a:spcPts val="600"/>
              </a:spcBef>
            </a:pPr>
            <a:r>
              <a:rPr 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Restrict privileged users’ activities to only those required for their jobs</a:t>
            </a:r>
          </a:p>
          <a:p>
            <a:pPr lvl="2">
              <a:spcBef>
                <a:spcPts val="600"/>
              </a:spcBef>
            </a:pPr>
            <a:r>
              <a:rPr 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Provide temporary access to systems or a tool that allows for instant revocation of permissions</a:t>
            </a:r>
          </a:p>
          <a:p>
            <a:pPr marL="0" indent="0">
              <a:spcBef>
                <a:spcPts val="600"/>
              </a:spcBef>
              <a:buFont typeface="Arial"/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Saviynt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does the following:</a:t>
            </a:r>
          </a:p>
          <a:p>
            <a:pPr lvl="2">
              <a:spcBef>
                <a:spcPts val="600"/>
              </a:spcBef>
            </a:pPr>
            <a:r>
              <a:rPr 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Streamline authorization &amp; monitoring of privileged users</a:t>
            </a:r>
          </a:p>
          <a:p>
            <a:pPr lvl="2">
              <a:spcBef>
                <a:spcPts val="600"/>
              </a:spcBef>
            </a:pPr>
            <a:r>
              <a:rPr 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Secures privileged access consistently and uniformly across On-Prem and Cloud based applications</a:t>
            </a:r>
          </a:p>
          <a:p>
            <a:pPr lvl="2">
              <a:spcBef>
                <a:spcPts val="600"/>
              </a:spcBef>
            </a:pPr>
            <a:r>
              <a:rPr lang="en-US" sz="1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Just-in-time Access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C1C18-ADD8-C6CC-4D57-1E8510B9DE81}"/>
              </a:ext>
            </a:extLst>
          </p:cNvPr>
          <p:cNvSpPr txBox="1"/>
          <p:nvPr/>
        </p:nvSpPr>
        <p:spPr>
          <a:xfrm>
            <a:off x="3044933" y="5586162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u="sng" dirty="0">
                <a:highlight>
                  <a:srgbClr val="FFFF00"/>
                </a:highlight>
                <a:cs typeface="Arial"/>
              </a:rPr>
              <a:t>&lt; Add all relevant use cases for executive Team&gt;</a:t>
            </a:r>
          </a:p>
        </p:txBody>
      </p:sp>
    </p:spTree>
    <p:extLst>
      <p:ext uri="{BB962C8B-B14F-4D97-AF65-F5344CB8AC3E}">
        <p14:creationId xmlns:p14="http://schemas.microsoft.com/office/powerpoint/2010/main" val="410105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E2F31111-E49E-0E82-8B5F-134518D1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84812c6fd_5_0">
            <a:extLst>
              <a:ext uri="{FF2B5EF4-FFF2-40B4-BE49-F238E27FC236}">
                <a16:creationId xmlns:a16="http://schemas.microsoft.com/office/drawing/2014/main" id="{195ED557-B4A5-B175-9038-9CD366E9D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4"/>
              <a:buNone/>
            </a:pPr>
            <a:r>
              <a:rPr lang="en-US" dirty="0"/>
              <a:t>What is included in Privileged Access ?</a:t>
            </a:r>
            <a:endParaRPr dirty="0"/>
          </a:p>
        </p:txBody>
      </p:sp>
      <p:sp>
        <p:nvSpPr>
          <p:cNvPr id="1135" name="Google Shape;1135;g3084812c6fd_5_0">
            <a:extLst>
              <a:ext uri="{FF2B5EF4-FFF2-40B4-BE49-F238E27FC236}">
                <a16:creationId xmlns:a16="http://schemas.microsoft.com/office/drawing/2014/main" id="{C955E89C-41F7-137B-A30C-9E80D74F304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66E2E-50B5-493E-C043-BA0A3E35ED79}"/>
              </a:ext>
            </a:extLst>
          </p:cNvPr>
          <p:cNvSpPr txBox="1">
            <a:spLocks/>
          </p:cNvSpPr>
          <p:nvPr/>
        </p:nvSpPr>
        <p:spPr>
          <a:xfrm>
            <a:off x="571500" y="1147761"/>
            <a:ext cx="5897880" cy="510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37160" lvl="1" indent="0">
              <a:buFont typeface="Arial"/>
              <a:buNone/>
            </a:pPr>
            <a:r>
              <a:rPr lang="en-US" sz="1500" b="1" dirty="0">
                <a:highlight>
                  <a:srgbClr val="FFFF00"/>
                </a:highlight>
              </a:rPr>
              <a:t>Secondary/Admin User Accounts:</a:t>
            </a:r>
          </a:p>
          <a:p>
            <a:pPr marL="137160" lvl="1" indent="0">
              <a:buFont typeface="Arial"/>
              <a:buNone/>
            </a:pPr>
            <a:r>
              <a:rPr lang="en-US" sz="1500" b="1" dirty="0">
                <a:highlight>
                  <a:srgbClr val="FFFF00"/>
                </a:highlight>
              </a:rPr>
              <a:t>Application &amp; Service Accounts:</a:t>
            </a:r>
          </a:p>
          <a:p>
            <a:pPr marL="137160" lvl="1" indent="0">
              <a:buFont typeface="Arial"/>
              <a:buNone/>
            </a:pPr>
            <a:r>
              <a:rPr lang="en-US" sz="1500" b="1" dirty="0">
                <a:highlight>
                  <a:srgbClr val="FFFF00"/>
                </a:highlight>
              </a:rPr>
              <a:t>Endpoints / Cloud Assets:</a:t>
            </a:r>
            <a:endParaRPr lang="en-US" dirty="0"/>
          </a:p>
          <a:p>
            <a:pPr marL="137160" lvl="1" indent="0">
              <a:buFont typeface="Arial"/>
              <a:buNone/>
            </a:pPr>
            <a:r>
              <a:rPr lang="en-US" sz="1600" b="1" dirty="0">
                <a:highlight>
                  <a:srgbClr val="FFFF00"/>
                </a:highlight>
              </a:rPr>
              <a:t>Compliance / Auditing:</a:t>
            </a:r>
            <a:endParaRPr lang="en-US" dirty="0"/>
          </a:p>
          <a:p>
            <a:pPr marL="137160" lvl="1" indent="0">
              <a:buFont typeface="Arial"/>
              <a:buNone/>
            </a:pPr>
            <a:r>
              <a:rPr lang="en-US" sz="1600" b="1" dirty="0">
                <a:highlight>
                  <a:srgbClr val="FFFF00"/>
                </a:highlight>
              </a:rPr>
              <a:t>Break Glass Accounts</a:t>
            </a:r>
          </a:p>
          <a:p>
            <a:pPr marL="137160" lvl="1" indent="0">
              <a:buFont typeface="Arial"/>
              <a:buNone/>
            </a:pPr>
            <a:r>
              <a:rPr lang="en-US" sz="1600" b="1" dirty="0">
                <a:highlight>
                  <a:srgbClr val="FFFF00"/>
                </a:highlight>
              </a:rPr>
              <a:t>Admin accounts for Cloud Services</a:t>
            </a:r>
          </a:p>
          <a:p>
            <a:pPr marL="137160" lvl="1" indent="0">
              <a:buFont typeface="Arial"/>
              <a:buNone/>
            </a:pPr>
            <a:r>
              <a:rPr lang="en-US" sz="1600" b="1" dirty="0">
                <a:highlight>
                  <a:srgbClr val="FFFF00"/>
                </a:highlight>
              </a:rPr>
              <a:t>DB</a:t>
            </a:r>
          </a:p>
          <a:p>
            <a:pPr marL="137160" lvl="1" indent="0">
              <a:buFont typeface="Arial"/>
              <a:buNone/>
            </a:pPr>
            <a:endParaRPr lang="en-US" sz="1600" b="1" dirty="0">
              <a:highlight>
                <a:srgbClr val="FFFF00"/>
              </a:highlight>
            </a:endParaRPr>
          </a:p>
          <a:p>
            <a:pPr marL="137160" lvl="1" indent="0">
              <a:buFont typeface="Arial"/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4DD8B-724D-7649-9F68-9F9A932175CD}"/>
              </a:ext>
            </a:extLst>
          </p:cNvPr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u="sng" dirty="0">
                <a:highlight>
                  <a:srgbClr val="FFFF00"/>
                </a:highlight>
                <a:cs typeface="Arial"/>
              </a:rPr>
              <a:t>&lt; Add </a:t>
            </a:r>
            <a:r>
              <a:rPr lang="en-US" i="1" u="sng" dirty="0">
                <a:highlight>
                  <a:srgbClr val="FFFF00"/>
                </a:highlight>
              </a:rPr>
              <a:t>some example accounts on each categories </a:t>
            </a:r>
            <a:r>
              <a:rPr lang="en-US" i="1" u="sng" dirty="0">
                <a:highlight>
                  <a:srgbClr val="FFFF00"/>
                </a:highlight>
                <a:cs typeface="Arial"/>
              </a:rPr>
              <a:t>for executive Team&gt;</a:t>
            </a:r>
          </a:p>
        </p:txBody>
      </p:sp>
    </p:spTree>
    <p:extLst>
      <p:ext uri="{BB962C8B-B14F-4D97-AF65-F5344CB8AC3E}">
        <p14:creationId xmlns:p14="http://schemas.microsoft.com/office/powerpoint/2010/main" val="113297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AF099268-5130-720A-4BE0-CC58D71F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84812c6fd_5_0">
            <a:extLst>
              <a:ext uri="{FF2B5EF4-FFF2-40B4-BE49-F238E27FC236}">
                <a16:creationId xmlns:a16="http://schemas.microsoft.com/office/drawing/2014/main" id="{C6D86F5B-4E26-7AA4-385F-18FD569018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55554"/>
            </a:pPr>
            <a:r>
              <a:rPr lang="en-US" dirty="0">
                <a:latin typeface="Arial"/>
                <a:cs typeface="Arial"/>
              </a:rPr>
              <a:t>Implementing Team</a:t>
            </a:r>
            <a:r>
              <a:rPr lang="en-US" dirty="0">
                <a:solidFill>
                  <a:schemeClr val="dk1"/>
                </a:solidFill>
              </a:rPr>
              <a:t> </a:t>
            </a:r>
            <a:endParaRPr dirty="0"/>
          </a:p>
        </p:txBody>
      </p:sp>
      <p:sp>
        <p:nvSpPr>
          <p:cNvPr id="1135" name="Google Shape;1135;g3084812c6fd_5_0">
            <a:extLst>
              <a:ext uri="{FF2B5EF4-FFF2-40B4-BE49-F238E27FC236}">
                <a16:creationId xmlns:a16="http://schemas.microsoft.com/office/drawing/2014/main" id="{7818E248-38C2-A7F8-C764-D707D872A22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D89A6909-A8B4-C6B0-2AEC-6528DC5371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6200415"/>
              </p:ext>
            </p:extLst>
          </p:nvPr>
        </p:nvGraphicFramePr>
        <p:xfrm>
          <a:off x="571499" y="1147762"/>
          <a:ext cx="10803321" cy="356768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601107">
                  <a:extLst>
                    <a:ext uri="{9D8B030D-6E8A-4147-A177-3AD203B41FA5}">
                      <a16:colId xmlns:a16="http://schemas.microsoft.com/office/drawing/2014/main" val="4053934422"/>
                    </a:ext>
                  </a:extLst>
                </a:gridCol>
                <a:gridCol w="3601107">
                  <a:extLst>
                    <a:ext uri="{9D8B030D-6E8A-4147-A177-3AD203B41FA5}">
                      <a16:colId xmlns:a16="http://schemas.microsoft.com/office/drawing/2014/main" val="3821057708"/>
                    </a:ext>
                  </a:extLst>
                </a:gridCol>
                <a:gridCol w="3601107">
                  <a:extLst>
                    <a:ext uri="{9D8B030D-6E8A-4147-A177-3AD203B41FA5}">
                      <a16:colId xmlns:a16="http://schemas.microsoft.com/office/drawing/2014/main" val="4259291468"/>
                    </a:ext>
                  </a:extLst>
                </a:gridCol>
              </a:tblGrid>
              <a:tr h="1177652"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[PARTNER]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[SAVIYNT]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[CUSTOMER]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092088"/>
                  </a:ext>
                </a:extLst>
              </a:tr>
              <a:tr h="239003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lvl="0" indent="0">
                        <a:spcBef>
                          <a:spcPts val="0"/>
                        </a:spcBef>
                        <a:spcAft>
                          <a:spcPts val="113"/>
                        </a:spcAft>
                        <a:buFont typeface="Arial" panose="020B0604020202020204" pitchFamily="34" charset="0"/>
                        <a:buNone/>
                      </a:pPr>
                      <a:endParaRPr lang="en-US" sz="1050" i="1" dirty="0">
                        <a:solidFill>
                          <a:srgbClr val="005168"/>
                        </a:solidFill>
                        <a:latin typeface="+mn-lt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lvl="0" indent="0">
                        <a:spcBef>
                          <a:spcPts val="0"/>
                        </a:spcBef>
                        <a:buClr>
                          <a:srgbClr val="F37020"/>
                        </a:buClr>
                        <a:defRPr/>
                      </a:pP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382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64FBB2-0FAA-83D1-F925-95E191F9E153}"/>
              </a:ext>
            </a:extLst>
          </p:cNvPr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u="sng" dirty="0">
                <a:highlight>
                  <a:srgbClr val="FFFF00"/>
                </a:highlight>
                <a:cs typeface="Arial"/>
              </a:rPr>
              <a:t>&lt; Add key members – role, contact details&gt;</a:t>
            </a:r>
          </a:p>
        </p:txBody>
      </p:sp>
    </p:spTree>
    <p:extLst>
      <p:ext uri="{BB962C8B-B14F-4D97-AF65-F5344CB8AC3E}">
        <p14:creationId xmlns:p14="http://schemas.microsoft.com/office/powerpoint/2010/main" val="300578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462B9725-7877-686C-0E7D-EC56FE44A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84812c6fd_5_0">
            <a:extLst>
              <a:ext uri="{FF2B5EF4-FFF2-40B4-BE49-F238E27FC236}">
                <a16:creationId xmlns:a16="http://schemas.microsoft.com/office/drawing/2014/main" id="{773CBE14-CA4B-1872-32E5-3F98D966F1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ct val="55554"/>
            </a:pPr>
            <a:r>
              <a:rPr lang="en-US" dirty="0">
                <a:latin typeface="Arial"/>
                <a:cs typeface="Arial"/>
              </a:rPr>
              <a:t>Scope of Engagement</a:t>
            </a:r>
            <a:r>
              <a:rPr lang="en-US" dirty="0">
                <a:solidFill>
                  <a:schemeClr val="dk1"/>
                </a:solidFill>
              </a:rPr>
              <a:t> </a:t>
            </a:r>
            <a:endParaRPr dirty="0"/>
          </a:p>
        </p:txBody>
      </p:sp>
      <p:sp>
        <p:nvSpPr>
          <p:cNvPr id="1135" name="Google Shape;1135;g3084812c6fd_5_0">
            <a:extLst>
              <a:ext uri="{FF2B5EF4-FFF2-40B4-BE49-F238E27FC236}">
                <a16:creationId xmlns:a16="http://schemas.microsoft.com/office/drawing/2014/main" id="{4EDEDE5F-FD3E-6FDE-D37B-967D906D143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E23BD-D711-EFB4-7DBD-C704409D2F2D}"/>
              </a:ext>
            </a:extLst>
          </p:cNvPr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u="sng" dirty="0">
                <a:highlight>
                  <a:srgbClr val="FFFF00"/>
                </a:highlight>
                <a:cs typeface="Arial"/>
              </a:rPr>
              <a:t>&lt; Modify as per your scope&gt;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5E63A-89D7-02BD-4AA8-58EBDC4D87A9}"/>
              </a:ext>
            </a:extLst>
          </p:cNvPr>
          <p:cNvSpPr txBox="1"/>
          <p:nvPr/>
        </p:nvSpPr>
        <p:spPr>
          <a:xfrm>
            <a:off x="440267" y="851599"/>
            <a:ext cx="11062006" cy="411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95262" fontAlgn="base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100000"/>
            </a:pP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Based on our understanding of </a:t>
            </a:r>
            <a:r>
              <a:rPr lang="en-US" sz="1200" dirty="0">
                <a:solidFill>
                  <a:schemeClr val="tx1"/>
                </a:solidFill>
                <a:highlight>
                  <a:srgbClr val="FFFF00"/>
                </a:highlight>
                <a:ea typeface="Verdana" panose="020B0604030504040204" pitchFamily="34" charset="0"/>
              </a:rPr>
              <a:t>[CUSTOMER]’s </a:t>
            </a: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scope, we have summarized project scope as below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1200" dirty="0">
              <a:solidFill>
                <a:schemeClr val="tx1"/>
              </a:solidFill>
              <a:ea typeface="Verdana" panose="020B0604030504040204" pitchFamily="34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1200" b="1" dirty="0">
                <a:solidFill>
                  <a:schemeClr val="tx1"/>
                </a:solidFill>
                <a:ea typeface="Verdana" panose="020B0604030504040204" pitchFamily="34" charset="0"/>
              </a:rPr>
              <a:t>Phase 1: Building CPAM environment – Addressing core requirements for Audit </a:t>
            </a:r>
          </a:p>
          <a:p>
            <a:pPr marL="169863" indent="-169863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ea typeface="Verdana" panose="020B0604030504040204" pitchFamily="34" charset="0"/>
              </a:rPr>
              <a:t>Active Directory Privileged Accounts and service Accounts onboarding</a:t>
            </a: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: Policy based password rotation, Check-in/check-out, Password policy, Credential checkout, Credential Less ADAM(AD Console) access</a:t>
            </a:r>
          </a:p>
          <a:p>
            <a:pPr marL="169863" indent="-169863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ea typeface="Verdana" panose="020B0604030504040204" pitchFamily="34" charset="0"/>
              </a:rPr>
              <a:t>AWS</a:t>
            </a: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: One AWS account onboarding, Machine discovery, Session Recording and playback, Workload access method (Credential, Credential Less, and Just in Time), AWS console, Linux and Windows workload protections</a:t>
            </a:r>
          </a:p>
          <a:p>
            <a:pPr marL="169863" indent="-169863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ea typeface="Verdana" panose="020B0604030504040204" pitchFamily="34" charset="0"/>
              </a:rPr>
              <a:t>Splunk</a:t>
            </a: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 (Security Information and Event Management – SIEM) integration.</a:t>
            </a:r>
            <a:endParaRPr lang="en-US" sz="1200" dirty="0">
              <a:solidFill>
                <a:schemeClr val="tx1"/>
              </a:solidFill>
              <a:highlight>
                <a:srgbClr val="FABD2F"/>
              </a:highlight>
              <a:ea typeface="Verdana" panose="020B0604030504040204" pitchFamily="34" charset="0"/>
            </a:endParaRPr>
          </a:p>
          <a:p>
            <a:pPr marL="169863" indent="-169863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OnPerm Vault Integration</a:t>
            </a:r>
          </a:p>
          <a:p>
            <a:pPr marL="169863" indent="-169863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Five OOB (Out of box) reports and control center configuration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1200" dirty="0">
              <a:solidFill>
                <a:schemeClr val="tx1"/>
              </a:solidFill>
              <a:ea typeface="Verdana" panose="020B0604030504040204" pitchFamily="34" charset="0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1200" b="1" dirty="0">
                <a:solidFill>
                  <a:schemeClr val="tx1"/>
                </a:solidFill>
                <a:ea typeface="Verdana" panose="020B0604030504040204" pitchFamily="34" charset="0"/>
              </a:rPr>
              <a:t>Phase 2: Expansion of CPAM</a:t>
            </a: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 </a:t>
            </a:r>
          </a:p>
          <a:p>
            <a:pPr marL="171450" indent="-17145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Automatic password rotation (</a:t>
            </a:r>
            <a:r>
              <a:rPr lang="en-US" sz="1200" b="1" dirty="0">
                <a:solidFill>
                  <a:schemeClr val="tx1"/>
                </a:solidFill>
                <a:ea typeface="Verdana" panose="020B0604030504040204" pitchFamily="34" charset="0"/>
              </a:rPr>
              <a:t>Windows Services, Schedule Tasks</a:t>
            </a: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)</a:t>
            </a:r>
          </a:p>
          <a:p>
            <a:pPr marL="171450" indent="-17145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ea typeface="Verdana" panose="020B0604030504040204" pitchFamily="34" charset="0"/>
              </a:rPr>
              <a:t>Service Account Management </a:t>
            </a: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(Active Directory Service Account management, Strategy definition to reduce service accounts, Service Account removal from Unix servers.</a:t>
            </a:r>
          </a:p>
          <a:p>
            <a:pPr marL="171450" indent="-17145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ea typeface="Verdana" panose="020B0604030504040204" pitchFamily="34" charset="0"/>
              </a:rPr>
              <a:t>Two (2) AWS accounts </a:t>
            </a: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onboarding to cover “console, Linux, Windows and DB” workloads to extend phase-1 solution</a:t>
            </a:r>
          </a:p>
          <a:p>
            <a:pPr marL="171450" indent="-17145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Solution design to onboard </a:t>
            </a:r>
          </a:p>
          <a:p>
            <a:pPr marL="171450" indent="-171450" fontAlgn="base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ea typeface="Verdana" panose="020B0604030504040204" pitchFamily="34" charset="0"/>
              </a:rPr>
              <a:t>OnPerm infrastructure </a:t>
            </a:r>
            <a:r>
              <a:rPr lang="en-US" sz="1200" dirty="0">
                <a:solidFill>
                  <a:schemeClr val="tx1"/>
                </a:solidFill>
                <a:ea typeface="Verdana" panose="020B0604030504040204" pitchFamily="34" charset="0"/>
              </a:rPr>
              <a:t>(Up to 5 sets of unique combinations of machines) to demonstrate JIT, Credential Less, Credential access to Windows/Linux and DB workloads</a:t>
            </a:r>
          </a:p>
        </p:txBody>
      </p:sp>
    </p:spTree>
    <p:extLst>
      <p:ext uri="{BB962C8B-B14F-4D97-AF65-F5344CB8AC3E}">
        <p14:creationId xmlns:p14="http://schemas.microsoft.com/office/powerpoint/2010/main" val="335342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275AB0B4-E9E1-0648-9FD1-2E36DBE8D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84812c6fd_5_0">
            <a:extLst>
              <a:ext uri="{FF2B5EF4-FFF2-40B4-BE49-F238E27FC236}">
                <a16:creationId xmlns:a16="http://schemas.microsoft.com/office/drawing/2014/main" id="{302E7463-F127-13F1-FFB2-722B40109F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4"/>
              <a:buNone/>
            </a:pPr>
            <a:r>
              <a:rPr lang="en-US" dirty="0">
                <a:solidFill>
                  <a:schemeClr val="dk1"/>
                </a:solidFill>
              </a:rPr>
              <a:t>How Saviynt fit in [Customer]’s IT ECO SYSTEM </a:t>
            </a:r>
            <a:endParaRPr dirty="0"/>
          </a:p>
        </p:txBody>
      </p:sp>
      <p:sp>
        <p:nvSpPr>
          <p:cNvPr id="1135" name="Google Shape;1135;g3084812c6fd_5_0">
            <a:extLst>
              <a:ext uri="{FF2B5EF4-FFF2-40B4-BE49-F238E27FC236}">
                <a16:creationId xmlns:a16="http://schemas.microsoft.com/office/drawing/2014/main" id="{26F1E491-07E3-79D1-D985-106E59D7B4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A2BF86B-776F-555D-6DCC-899AB918552C}"/>
              </a:ext>
            </a:extLst>
          </p:cNvPr>
          <p:cNvSpPr txBox="1">
            <a:spLocks/>
          </p:cNvSpPr>
          <p:nvPr/>
        </p:nvSpPr>
        <p:spPr>
          <a:xfrm>
            <a:off x="571500" y="1143000"/>
            <a:ext cx="6073140" cy="4572000"/>
          </a:xfrm>
          <a:prstGeom prst="rect">
            <a:avLst/>
          </a:prstGeom>
        </p:spPr>
        <p:txBody>
          <a:bodyPr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1200" b="1" dirty="0">
                <a:highlight>
                  <a:srgbClr val="FFFF00"/>
                </a:highlight>
              </a:rPr>
              <a:t>To establish a process that provides the right access to the right users at the right time, we need to understand the following: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highlight>
                  <a:srgbClr val="FFFF00"/>
                </a:highlight>
              </a:rPr>
              <a:t>The roles, permissions, and access rights available within your application.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highlight>
                  <a:srgbClr val="FFFF00"/>
                </a:highlight>
              </a:rPr>
              <a:t>The current users who have access to these roles and permissions.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highlight>
                  <a:srgbClr val="FFFF00"/>
                </a:highlight>
              </a:rPr>
              <a:t>The business processes that determine who should receive these rights and when.</a:t>
            </a:r>
          </a:p>
          <a:p>
            <a:pPr>
              <a:spcAft>
                <a:spcPts val="1200"/>
              </a:spcAft>
            </a:pPr>
            <a:r>
              <a:rPr lang="en-US" sz="1200" b="1" dirty="0">
                <a:highlight>
                  <a:srgbClr val="FFFF00"/>
                </a:highlight>
              </a:rPr>
              <a:t>How Saviynt can integrate with your application, whether through database access, APIs, SDKs, or other methods.</a:t>
            </a:r>
          </a:p>
          <a:p>
            <a:pPr>
              <a:spcAft>
                <a:spcPts val="1200"/>
              </a:spcAft>
            </a:pPr>
            <a:r>
              <a:rPr lang="en-US" sz="1200" b="1" dirty="0">
                <a:highlight>
                  <a:srgbClr val="FFFF00"/>
                </a:highlight>
              </a:rPr>
              <a:t>For our discovery process, we’ll need approximately two hours with a subject matter expert (SME) for your application to: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highlight>
                  <a:srgbClr val="FFFF00"/>
                </a:highlight>
              </a:rPr>
              <a:t>Complete an application questionnaire.</a:t>
            </a:r>
          </a:p>
          <a:p>
            <a:pPr marL="171450" indent="-1714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highlight>
                  <a:srgbClr val="FFFF00"/>
                </a:highlight>
              </a:rPr>
              <a:t>Provide additional information and answer any follow-up questions in a meeting to ensure clarity.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9984A5-7B4E-64CF-2893-DA7755823E38}"/>
              </a:ext>
            </a:extLst>
          </p:cNvPr>
          <p:cNvSpPr/>
          <p:nvPr/>
        </p:nvSpPr>
        <p:spPr>
          <a:xfrm>
            <a:off x="7936992" y="1335024"/>
            <a:ext cx="3054096" cy="3849624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Integration Diagram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Refer “Saviynt EIC in Customer’s </a:t>
            </a:r>
            <a:r>
              <a:rPr lang="en-US" dirty="0" err="1">
                <a:solidFill>
                  <a:schemeClr val="tx1"/>
                </a:solidFill>
              </a:rPr>
              <a:t>EcoSystem</a:t>
            </a:r>
            <a:r>
              <a:rPr lang="en-US" dirty="0">
                <a:solidFill>
                  <a:schemeClr val="tx1"/>
                </a:solidFill>
              </a:rPr>
              <a:t>” in TTV Reference material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B7D35-4162-0BA0-6482-B67CCAA90792}"/>
              </a:ext>
            </a:extLst>
          </p:cNvPr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u="sng" dirty="0">
                <a:highlight>
                  <a:srgbClr val="FFFF00"/>
                </a:highlight>
                <a:cs typeface="Arial"/>
              </a:rPr>
              <a:t>&lt; Add </a:t>
            </a:r>
            <a:r>
              <a:rPr lang="en-US" i="1" u="sng" dirty="0">
                <a:highlight>
                  <a:srgbClr val="FFFF00"/>
                </a:highlight>
              </a:rPr>
              <a:t>all details for App Discovery and provide an App Questionnaire </a:t>
            </a:r>
            <a:r>
              <a:rPr lang="en-US" i="1" u="sng" dirty="0">
                <a:highlight>
                  <a:srgbClr val="FFFF00"/>
                </a:highlight>
                <a:cs typeface="Arial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7292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EC5F8E92-CE7E-26E2-0D3F-DCACC55C6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084812c6fd_5_0">
            <a:extLst>
              <a:ext uri="{FF2B5EF4-FFF2-40B4-BE49-F238E27FC236}">
                <a16:creationId xmlns:a16="http://schemas.microsoft.com/office/drawing/2014/main" id="{5F880A77-31D4-1F82-3207-D7371A67BE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0267" y="365125"/>
            <a:ext cx="1131146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554"/>
              <a:buNone/>
            </a:pPr>
            <a:r>
              <a:rPr lang="en-US" dirty="0"/>
              <a:t>Timeline</a:t>
            </a:r>
            <a:r>
              <a:rPr lang="en-US" dirty="0">
                <a:solidFill>
                  <a:schemeClr val="dk1"/>
                </a:solidFill>
              </a:rPr>
              <a:t> </a:t>
            </a:r>
            <a:endParaRPr dirty="0"/>
          </a:p>
        </p:txBody>
      </p:sp>
      <p:sp>
        <p:nvSpPr>
          <p:cNvPr id="1135" name="Google Shape;1135;g3084812c6fd_5_0">
            <a:extLst>
              <a:ext uri="{FF2B5EF4-FFF2-40B4-BE49-F238E27FC236}">
                <a16:creationId xmlns:a16="http://schemas.microsoft.com/office/drawing/2014/main" id="{1E4708FC-E398-D511-6BFE-38582A6DEB2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776545" y="6256344"/>
            <a:ext cx="47257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2024. Saviynt Inc. All Rights Reserved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90969A-6211-930D-F33E-4382C5E057B2}"/>
              </a:ext>
            </a:extLst>
          </p:cNvPr>
          <p:cNvSpPr txBox="1"/>
          <p:nvPr/>
        </p:nvSpPr>
        <p:spPr>
          <a:xfrm>
            <a:off x="3044932" y="5586162"/>
            <a:ext cx="7690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u="sng" dirty="0">
                <a:highlight>
                  <a:srgbClr val="FFFF00"/>
                </a:highlight>
                <a:cs typeface="Arial"/>
              </a:rPr>
              <a:t>&lt; Add </a:t>
            </a:r>
            <a:r>
              <a:rPr lang="en-US" i="1" u="sng" dirty="0">
                <a:highlight>
                  <a:srgbClr val="FFFF00"/>
                </a:highlight>
              </a:rPr>
              <a:t>Project Plan or High-Level execution</a:t>
            </a:r>
            <a:r>
              <a:rPr lang="en-US" i="1" u="sng" dirty="0">
                <a:highlight>
                  <a:srgbClr val="FFFF00"/>
                </a:highlight>
                <a:cs typeface="Arial"/>
              </a:rPr>
              <a:t>&gt;</a:t>
            </a:r>
          </a:p>
        </p:txBody>
      </p:sp>
      <p:graphicFrame>
        <p:nvGraphicFramePr>
          <p:cNvPr id="3" name="Content Placeholder 8">
            <a:extLst>
              <a:ext uri="{FF2B5EF4-FFF2-40B4-BE49-F238E27FC236}">
                <a16:creationId xmlns:a16="http://schemas.microsoft.com/office/drawing/2014/main" id="{4957F0EF-8877-4253-A833-6DBCB1EE2B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7716703"/>
              </p:ext>
            </p:extLst>
          </p:nvPr>
        </p:nvGraphicFramePr>
        <p:xfrm>
          <a:off x="700414" y="1147764"/>
          <a:ext cx="10791173" cy="4323382"/>
        </p:xfrm>
        <a:graphic>
          <a:graphicData uri="http://schemas.openxmlformats.org/drawingml/2006/table">
            <a:tbl>
              <a:tblPr firstCol="1"/>
              <a:tblGrid>
                <a:gridCol w="1856253">
                  <a:extLst>
                    <a:ext uri="{9D8B030D-6E8A-4147-A177-3AD203B41FA5}">
                      <a16:colId xmlns:a16="http://schemas.microsoft.com/office/drawing/2014/main" val="1864287334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3143492292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130748825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2395683950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3245975561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4073029424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2780797205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2271387680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1270517083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308487170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1255072870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1907623863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2607922814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2366426197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915102564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744146273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2648386120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3108610156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687548570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1746558714"/>
                    </a:ext>
                  </a:extLst>
                </a:gridCol>
                <a:gridCol w="446746">
                  <a:extLst>
                    <a:ext uri="{9D8B030D-6E8A-4147-A177-3AD203B41FA5}">
                      <a16:colId xmlns:a16="http://schemas.microsoft.com/office/drawing/2014/main" val="2237086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2000" b="1" i="0" u="none" strike="noStrike">
                          <a:solidFill>
                            <a:schemeClr val="bg1"/>
                          </a:solidFill>
                          <a:latin typeface="+mn-lt"/>
                        </a:rPr>
                        <a:t>Weeks</a:t>
                      </a:r>
                      <a:endParaRPr lang="en-US" sz="1050" b="1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0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0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0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0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200" b="1" i="0" u="none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578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050" b="1" i="0" u="none" strike="noStrike">
                          <a:solidFill>
                            <a:schemeClr val="bg1"/>
                          </a:solidFill>
                          <a:latin typeface="+mn-lt"/>
                        </a:rPr>
                        <a:t>Period Start Date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05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</a:pPr>
                      <a:endParaRPr lang="en-US" sz="1200" b="1" i="0" u="none" strike="noStrike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0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0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0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200" b="1" i="0" u="none" strike="noStrike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 anchor="ctr" anchorCtr="1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6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778620"/>
                  </a:ext>
                </a:extLst>
              </a:tr>
              <a:tr h="542740">
                <a:tc>
                  <a:txBody>
                    <a:bodyPr/>
                    <a:lstStyle/>
                    <a:p>
                      <a:pPr marL="0" marR="0" lvl="0" indent="0" algn="l" defTabSz="101845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accent2"/>
                          </a:solidFill>
                        </a:rPr>
                        <a:t>Scope Areas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137160" marR="13716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76302"/>
                  </a:ext>
                </a:extLst>
              </a:tr>
              <a:tr h="461197">
                <a:tc>
                  <a:txBody>
                    <a:bodyPr/>
                    <a:lstStyle/>
                    <a:p>
                      <a:pPr marL="0" marR="0" lvl="0" indent="0" algn="l" defTabSz="101845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1" i="0" kern="0" dirty="0">
                          <a:solidFill>
                            <a:schemeClr val="bg1"/>
                          </a:solidFill>
                          <a:latin typeface="+mn-lt"/>
                        </a:rPr>
                        <a:t>IGA Discovery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645726"/>
                  </a:ext>
                </a:extLst>
              </a:tr>
              <a:tr h="4611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101845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1" i="0" kern="0">
                          <a:solidFill>
                            <a:schemeClr val="bg1"/>
                          </a:solidFill>
                          <a:latin typeface="+mn-lt"/>
                        </a:rPr>
                        <a:t>Architectural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610914"/>
                  </a:ext>
                </a:extLst>
              </a:tr>
              <a:tr h="461197">
                <a:tc>
                  <a:txBody>
                    <a:bodyPr/>
                    <a:lstStyle/>
                    <a:p>
                      <a:pPr marL="0" marR="0" lvl="0" indent="0" algn="l" defTabSz="101845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1" i="0" kern="0" dirty="0">
                          <a:solidFill>
                            <a:schemeClr val="bg1"/>
                          </a:solidFill>
                          <a:latin typeface="+mn-lt"/>
                        </a:rPr>
                        <a:t>CPAM Discovery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876380"/>
                  </a:ext>
                </a:extLst>
              </a:tr>
              <a:tr h="461197">
                <a:tc>
                  <a:txBody>
                    <a:bodyPr/>
                    <a:lstStyle/>
                    <a:p>
                      <a:pPr marL="0" marR="0" lvl="0" indent="0" algn="l" defTabSz="101845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1" i="0" kern="0" dirty="0">
                          <a:solidFill>
                            <a:schemeClr val="bg1"/>
                          </a:solidFill>
                          <a:latin typeface="+mn-lt"/>
                        </a:rPr>
                        <a:t>IAM / IGA / CPAM </a:t>
                      </a:r>
                      <a:br>
                        <a:rPr lang="en-US" sz="1200" b="1" i="0" kern="0" dirty="0">
                          <a:solidFill>
                            <a:schemeClr val="bg1"/>
                          </a:solidFill>
                          <a:latin typeface="+mn-lt"/>
                        </a:rPr>
                      </a:br>
                      <a:r>
                        <a:rPr lang="en-US" sz="1200" b="1" i="0" kern="0" dirty="0">
                          <a:solidFill>
                            <a:schemeClr val="bg1"/>
                          </a:solidFill>
                          <a:latin typeface="+mn-lt"/>
                        </a:rPr>
                        <a:t>Core Implementations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683195"/>
                  </a:ext>
                </a:extLst>
              </a:tr>
              <a:tr h="461197">
                <a:tc>
                  <a:txBody>
                    <a:bodyPr/>
                    <a:lstStyle/>
                    <a:p>
                      <a:pPr marL="0" marR="0" lvl="0" indent="0" algn="l" defTabSz="101845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1" i="0" kern="0" dirty="0">
                          <a:solidFill>
                            <a:schemeClr val="bg1"/>
                          </a:solidFill>
                          <a:latin typeface="+mn-lt"/>
                        </a:rPr>
                        <a:t>IGA / PAM Rollout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051935"/>
                  </a:ext>
                </a:extLst>
              </a:tr>
              <a:tr h="461197">
                <a:tc>
                  <a:txBody>
                    <a:bodyPr/>
                    <a:lstStyle/>
                    <a:p>
                      <a:pPr marL="0" marR="0" lvl="0" indent="0" algn="l" defTabSz="101845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1" i="0" kern="0">
                          <a:solidFill>
                            <a:schemeClr val="bg1"/>
                          </a:solidFill>
                          <a:latin typeface="+mn-lt"/>
                        </a:rPr>
                        <a:t>Transition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05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8872" indent="-118872" algn="l" defTabSz="1018705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u="none" strike="noStrike" kern="1200" dirty="0">
                        <a:latin typeface="+mn-lt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4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60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8"/>
          <p:cNvSpPr txBox="1">
            <a:spLocks noGrp="1"/>
          </p:cNvSpPr>
          <p:nvPr>
            <p:ph type="sldNum" idx="4294967295"/>
          </p:nvPr>
        </p:nvSpPr>
        <p:spPr>
          <a:xfrm>
            <a:off x="11715946" y="6198348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50" name="Google Shape;450;p88"/>
          <p:cNvSpPr txBox="1"/>
          <p:nvPr/>
        </p:nvSpPr>
        <p:spPr>
          <a:xfrm>
            <a:off x="657639" y="5147253"/>
            <a:ext cx="2257011" cy="61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451" name="Google Shape;451;p88"/>
          <p:cNvSpPr/>
          <p:nvPr/>
        </p:nvSpPr>
        <p:spPr>
          <a:xfrm>
            <a:off x="657639" y="4964998"/>
            <a:ext cx="628650" cy="18225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88" descr="A white text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639" y="5698920"/>
            <a:ext cx="1816100" cy="49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viynt">
      <a:dk1>
        <a:srgbClr val="10123C"/>
      </a:dk1>
      <a:lt1>
        <a:srgbClr val="FFFFFF"/>
      </a:lt1>
      <a:dk2>
        <a:srgbClr val="44546A"/>
      </a:dk2>
      <a:lt2>
        <a:srgbClr val="EEEDE1"/>
      </a:lt2>
      <a:accent1>
        <a:srgbClr val="5BA1BA"/>
      </a:accent1>
      <a:accent2>
        <a:srgbClr val="936905"/>
      </a:accent2>
      <a:accent3>
        <a:srgbClr val="2F8920"/>
      </a:accent3>
      <a:accent4>
        <a:srgbClr val="3A3A66"/>
      </a:accent4>
      <a:accent5>
        <a:srgbClr val="005E77"/>
      </a:accent5>
      <a:accent6>
        <a:srgbClr val="C9A224"/>
      </a:accent6>
      <a:hlink>
        <a:srgbClr val="5BA1BA"/>
      </a:hlink>
      <a:folHlink>
        <a:srgbClr val="EEED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</TotalTime>
  <Words>826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Montserrat</vt:lpstr>
      <vt:lpstr>Times New Roman</vt:lpstr>
      <vt:lpstr>Arial</vt:lpstr>
      <vt:lpstr>Verdana</vt:lpstr>
      <vt:lpstr>Calibri</vt:lpstr>
      <vt:lpstr>Symbol</vt:lpstr>
      <vt:lpstr>Office Theme</vt:lpstr>
      <vt:lpstr>Saviynt Implementation  CPAM Overview</vt:lpstr>
      <vt:lpstr>Agenda </vt:lpstr>
      <vt:lpstr>Background </vt:lpstr>
      <vt:lpstr>Why Saviynt Privileged Access Management? </vt:lpstr>
      <vt:lpstr>What is included in Privileged Access ?</vt:lpstr>
      <vt:lpstr>Implementing Team </vt:lpstr>
      <vt:lpstr>Scope of Engagement </vt:lpstr>
      <vt:lpstr>How Saviynt fit in [Customer]’s IT ECO SYSTEM </vt:lpstr>
      <vt:lpstr>Timeline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Mudit Kumar Sharma</dc:creator>
  <cp:lastModifiedBy>rakesh goudar</cp:lastModifiedBy>
  <cp:revision>17</cp:revision>
  <dcterms:created xsi:type="dcterms:W3CDTF">2024-04-24T12:44:11Z</dcterms:created>
  <dcterms:modified xsi:type="dcterms:W3CDTF">2025-07-04T14:14:28Z</dcterms:modified>
</cp:coreProperties>
</file>